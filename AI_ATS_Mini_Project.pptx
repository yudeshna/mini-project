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panel. Introduce the project as a full-stack AI-powered ATS — built end to end: React frontend, Node/Express backend, MongoDB database, and a Python AI module for resume scoring. Mention this mirrors real recruitment software used by companies like TCS, Infosys, and Accenture internally. State your name, branch, and college, then move to the problem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pain point first: a recruiter receiving hundreds of resumes for one role has no scalable way to shortlist fairly or quickly, and candidates get zero feedback on fit. Then walk through the four objectives — automate screening with AI, centralize the hiring pipeline, give both recruiters and candidates a dashboard, and keep it secure with JWT-based role authentication. Tie this back to the next slide: 'here's how we architected a system to solve all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through the architecture: the React frontend handles all UI — login, dashboards, job search, application forms — styled with Tailwind. It talks to a Node.js and Express REST API that handles authentication with JWT and all business logic for jobs and applications. That API persists data into MongoDB across three collections: Users, Jobs, and Applications. Finally, when a candidate applies, the backend calls a separate Python Flask microservice — the ATS Scoring Engine — which parses the uploaded PDF resume, extracts skills using NLP techniques, and computes a match percentage against the job description using TF-IDF and cosine similarity. Mention the development followed an agile, module-by-module approach — one feature built, tested, and verified before moving to the next, which is why authentication, then jobs, then applications, then AI scoring were each completed and tested independently.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summarizes what's actually implemented and working end to end — each card represents a tested feature, not a planned one. Recruiters can post and manage jobs and see every applicant in one dashboard. Candidates can search and filter live postings. Resume upload is handled securely via Multer middleware, storing PDFs and linking them to the candidate's profile. The ATS scoring engine — the most technically involved piece — extracts text from the PDF, identifies skills using keyword matching, and calculates a similarity score against the job description using TF-IDF vectorization and cosine similarity, giving a 0 to 100 percent match. Applications move through a five-stage status pipeline that recruiters update directly, and the applicant list is automatically sorted by ATS score so the best-fit candidates surface first. If asked for a live demo: open the recruiter dashboard, click View Applications on a job, and show the ATS score and skills breakdown for a real submitted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reinforcing what was actually built and verified: a complete, working full-stack ATS with real authentication, a working AI scoring pipeline, and functional dashboards on both sides of the marketplace — this isn't a mockup, every flow was tested with Postman and the live UI. Then pivot to future scope honestly — these are scoped-out next steps, not missing features: a real-time notification system, an in-app resume viewer, interview scheduling, and richer analytics like hiring funnels and time-to-hire. End with thank you and open the floor for questions. Be ready to explain the ATS scoring logic in more depth if asked — TF-IDF cosine similarity plus keyword skill matching, weighted 40/60.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203A"/>
        </a:solidFill>
      </p:bgPr>
    </p:bg>
    <p:spTree>
      <p:nvGrpSpPr>
        <p:cNvPr id="1" name=""/>
        <p:cNvGrpSpPr/>
        <p:nvPr/>
      </p:nvGrpSpPr>
      <p:grpSpPr>
        <a:xfrm>
          <a:off x="0" y="0"/>
          <a:ext cx="0" cy="0"/>
          <a:chOff x="0" y="0"/>
          <a:chExt cx="0" cy="0"/>
        </a:xfrm>
      </p:grpSpPr>
      <p:sp>
        <p:nvSpPr>
          <p:cNvPr id="2" name="Shape 0"/>
          <p:cNvSpPr/>
          <p:nvPr/>
        </p:nvSpPr>
        <p:spPr>
          <a:xfrm>
            <a:off x="8778240" y="-1645920"/>
            <a:ext cx="5486400" cy="5486400"/>
          </a:xfrm>
          <a:prstGeom prst="ellipse">
            <a:avLst/>
          </a:prstGeom>
          <a:solidFill>
            <a:srgbClr val="1B2D4F"/>
          </a:solidFill>
          <a:ln/>
        </p:spPr>
      </p:sp>
      <p:sp>
        <p:nvSpPr>
          <p:cNvPr id="3" name="Shape 1"/>
          <p:cNvSpPr/>
          <p:nvPr/>
        </p:nvSpPr>
        <p:spPr>
          <a:xfrm>
            <a:off x="10332720" y="4206240"/>
            <a:ext cx="3840480" cy="3840480"/>
          </a:xfrm>
          <a:prstGeom prst="ellipse">
            <a:avLst/>
          </a:prstGeom>
          <a:solidFill>
            <a:srgbClr val="16284A"/>
          </a:solidFill>
          <a:ln/>
        </p:spPr>
      </p:sp>
      <p:sp>
        <p:nvSpPr>
          <p:cNvPr id="4" name="Text 2"/>
          <p:cNvSpPr/>
          <p:nvPr/>
        </p:nvSpPr>
        <p:spPr>
          <a:xfrm>
            <a:off x="640080" y="594360"/>
            <a:ext cx="5486400" cy="365760"/>
          </a:xfrm>
          <a:prstGeom prst="rect">
            <a:avLst/>
          </a:prstGeom>
          <a:noFill/>
          <a:ln/>
        </p:spPr>
        <p:txBody>
          <a:bodyPr wrap="square" lIns="0" tIns="0" rIns="0" bIns="0" rtlCol="0" anchor="ctr"/>
          <a:lstStyle/>
          <a:p>
            <a:pPr indent="0" marL="0">
              <a:buNone/>
            </a:pPr>
            <a:r>
              <a:rPr lang="en-US" sz="1300" b="1" spc="300" kern="0" dirty="0">
                <a:solidFill>
                  <a:srgbClr val="5EEAD4"/>
                </a:solidFill>
                <a:latin typeface="Calibri" pitchFamily="34" charset="0"/>
                <a:ea typeface="Calibri" pitchFamily="34" charset="-122"/>
                <a:cs typeface="Calibri" pitchFamily="34" charset="-120"/>
              </a:rPr>
              <a:t>B.TECH MINI PROJECT</a:t>
            </a:r>
            <a:endParaRPr lang="en-US" sz="1300" dirty="0"/>
          </a:p>
        </p:txBody>
      </p:sp>
      <p:sp>
        <p:nvSpPr>
          <p:cNvPr id="5" name="Text 3"/>
          <p:cNvSpPr/>
          <p:nvPr/>
        </p:nvSpPr>
        <p:spPr>
          <a:xfrm>
            <a:off x="640080" y="1371600"/>
            <a:ext cx="8686800" cy="2103120"/>
          </a:xfrm>
          <a:prstGeom prst="rect">
            <a:avLst/>
          </a:prstGeom>
          <a:noFill/>
          <a:ln/>
        </p:spPr>
        <p:txBody>
          <a:bodyPr wrap="square" lIns="0" tIns="0" rIns="0" bIns="0" rtlCol="0" anchor="ctr"/>
          <a:lstStyle/>
          <a:p>
            <a:pPr indent="0" marL="0">
              <a:lnSpc>
                <a:spcPct val="108000"/>
              </a:lnSpc>
              <a:buNone/>
            </a:pPr>
            <a:r>
              <a:rPr lang="en-US" sz="4200" b="1" dirty="0">
                <a:solidFill>
                  <a:srgbClr val="FFFFFF"/>
                </a:solidFill>
                <a:latin typeface="Cambria" pitchFamily="34" charset="0"/>
                <a:ea typeface="Cambria" pitchFamily="34" charset="-122"/>
                <a:cs typeface="Cambria" pitchFamily="34" charset="-120"/>
              </a:rPr>
              <a:t>AI-Powered Applicant</a:t>
            </a:r>
            <a:endParaRPr lang="en-US" sz="4200" dirty="0"/>
          </a:p>
          <a:p>
            <a:pPr indent="0" marL="0">
              <a:lnSpc>
                <a:spcPct val="108000"/>
              </a:lnSpc>
              <a:buNone/>
            </a:pPr>
            <a:r>
              <a:rPr lang="en-US" sz="4200" b="1" dirty="0">
                <a:solidFill>
                  <a:srgbClr val="FFFFFF"/>
                </a:solidFill>
                <a:latin typeface="Cambria" pitchFamily="34" charset="0"/>
                <a:ea typeface="Cambria" pitchFamily="34" charset="-122"/>
                <a:cs typeface="Cambria" pitchFamily="34" charset="-120"/>
              </a:rPr>
              <a:t>Tracking System</a:t>
            </a:r>
            <a:endParaRPr lang="en-US" sz="4200" dirty="0"/>
          </a:p>
        </p:txBody>
      </p:sp>
      <p:sp>
        <p:nvSpPr>
          <p:cNvPr id="6" name="Text 4"/>
          <p:cNvSpPr/>
          <p:nvPr/>
        </p:nvSpPr>
        <p:spPr>
          <a:xfrm>
            <a:off x="640080" y="3520440"/>
            <a:ext cx="7680960" cy="731520"/>
          </a:xfrm>
          <a:prstGeom prst="rect">
            <a:avLst/>
          </a:prstGeom>
          <a:noFill/>
          <a:ln/>
        </p:spPr>
        <p:txBody>
          <a:bodyPr wrap="square" lIns="0" tIns="0" rIns="0" bIns="0" rtlCol="0" anchor="ctr"/>
          <a:lstStyle/>
          <a:p>
            <a:pPr indent="0" marL="0">
              <a:buNone/>
            </a:pPr>
            <a:r>
              <a:rPr lang="en-US" sz="1450" i="1" dirty="0">
                <a:solidFill>
                  <a:srgbClr val="C7D2E3"/>
                </a:solidFill>
                <a:latin typeface="Calibri" pitchFamily="34" charset="0"/>
                <a:ea typeface="Calibri" pitchFamily="34" charset="-122"/>
                <a:cs typeface="Calibri" pitchFamily="34" charset="-120"/>
              </a:rPr>
              <a:t>A full-stack recruitment platform that connects candidates and recruiters through intelligent, automated resume screening.</a:t>
            </a:r>
            <a:endParaRPr lang="en-US" sz="1450" dirty="0"/>
          </a:p>
        </p:txBody>
      </p:sp>
      <p:sp>
        <p:nvSpPr>
          <p:cNvPr id="7" name="Shape 5"/>
          <p:cNvSpPr/>
          <p:nvPr/>
        </p:nvSpPr>
        <p:spPr>
          <a:xfrm>
            <a:off x="640080" y="4526280"/>
            <a:ext cx="1874520" cy="566928"/>
          </a:xfrm>
          <a:prstGeom prst="roundRect">
            <a:avLst>
              <a:gd name="adj" fmla="val 16129"/>
            </a:avLst>
          </a:prstGeom>
          <a:solidFill>
            <a:srgbClr val="1B2D4F"/>
          </a:solidFill>
          <a:ln w="12700">
            <a:solidFill>
              <a:srgbClr val="2C4270"/>
            </a:solidFill>
            <a:prstDash val="solid"/>
          </a:ln>
        </p:spPr>
      </p:sp>
      <p:pic>
        <p:nvPicPr>
          <p:cNvPr id="8" name="Image 0" descr="preencoded.png">    </p:cNvPr>
          <p:cNvPicPr>
            <a:picLocks noChangeAspect="1"/>
          </p:cNvPicPr>
          <p:nvPr/>
        </p:nvPicPr>
        <p:blipFill>
          <a:blip r:embed="rId1"/>
          <a:stretch>
            <a:fillRect/>
          </a:stretch>
        </p:blipFill>
        <p:spPr>
          <a:xfrm>
            <a:off x="768096" y="4663440"/>
            <a:ext cx="292608" cy="292608"/>
          </a:xfrm>
          <a:prstGeom prst="rect">
            <a:avLst/>
          </a:prstGeom>
        </p:spPr>
      </p:pic>
      <p:sp>
        <p:nvSpPr>
          <p:cNvPr id="9" name="Text 6"/>
          <p:cNvSpPr/>
          <p:nvPr/>
        </p:nvSpPr>
        <p:spPr>
          <a:xfrm>
            <a:off x="1115568" y="4526280"/>
            <a:ext cx="1325880" cy="56692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React.js</a:t>
            </a:r>
            <a:endParaRPr lang="en-US" sz="1050" dirty="0"/>
          </a:p>
        </p:txBody>
      </p:sp>
      <p:sp>
        <p:nvSpPr>
          <p:cNvPr id="10" name="Shape 7"/>
          <p:cNvSpPr/>
          <p:nvPr/>
        </p:nvSpPr>
        <p:spPr>
          <a:xfrm>
            <a:off x="2633472" y="4526280"/>
            <a:ext cx="1874520" cy="566928"/>
          </a:xfrm>
          <a:prstGeom prst="roundRect">
            <a:avLst>
              <a:gd name="adj" fmla="val 16129"/>
            </a:avLst>
          </a:prstGeom>
          <a:solidFill>
            <a:srgbClr val="1B2D4F"/>
          </a:solidFill>
          <a:ln w="12700">
            <a:solidFill>
              <a:srgbClr val="2C4270"/>
            </a:solidFill>
            <a:prstDash val="solid"/>
          </a:ln>
        </p:spPr>
      </p:sp>
      <p:pic>
        <p:nvPicPr>
          <p:cNvPr id="11" name="Image 1" descr="preencoded.png">    </p:cNvPr>
          <p:cNvPicPr>
            <a:picLocks noChangeAspect="1"/>
          </p:cNvPicPr>
          <p:nvPr/>
        </p:nvPicPr>
        <p:blipFill>
          <a:blip r:embed="rId2"/>
          <a:stretch>
            <a:fillRect/>
          </a:stretch>
        </p:blipFill>
        <p:spPr>
          <a:xfrm>
            <a:off x="2761488" y="4663440"/>
            <a:ext cx="292608" cy="292608"/>
          </a:xfrm>
          <a:prstGeom prst="rect">
            <a:avLst/>
          </a:prstGeom>
        </p:spPr>
      </p:pic>
      <p:sp>
        <p:nvSpPr>
          <p:cNvPr id="12" name="Text 8"/>
          <p:cNvSpPr/>
          <p:nvPr/>
        </p:nvSpPr>
        <p:spPr>
          <a:xfrm>
            <a:off x="3108960" y="4526280"/>
            <a:ext cx="1325880" cy="56692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Node.js / Express</a:t>
            </a:r>
            <a:endParaRPr lang="en-US" sz="1050" dirty="0"/>
          </a:p>
        </p:txBody>
      </p:sp>
      <p:sp>
        <p:nvSpPr>
          <p:cNvPr id="13" name="Shape 9"/>
          <p:cNvSpPr/>
          <p:nvPr/>
        </p:nvSpPr>
        <p:spPr>
          <a:xfrm>
            <a:off x="4626864" y="4526280"/>
            <a:ext cx="1874520" cy="566928"/>
          </a:xfrm>
          <a:prstGeom prst="roundRect">
            <a:avLst>
              <a:gd name="adj" fmla="val 16129"/>
            </a:avLst>
          </a:prstGeom>
          <a:solidFill>
            <a:srgbClr val="1B2D4F"/>
          </a:solidFill>
          <a:ln w="12700">
            <a:solidFill>
              <a:srgbClr val="2C4270"/>
            </a:solidFill>
            <a:prstDash val="solid"/>
          </a:ln>
        </p:spPr>
      </p:sp>
      <p:pic>
        <p:nvPicPr>
          <p:cNvPr id="14" name="Image 2" descr="preencoded.png">    </p:cNvPr>
          <p:cNvPicPr>
            <a:picLocks noChangeAspect="1"/>
          </p:cNvPicPr>
          <p:nvPr/>
        </p:nvPicPr>
        <p:blipFill>
          <a:blip r:embed="rId3"/>
          <a:stretch>
            <a:fillRect/>
          </a:stretch>
        </p:blipFill>
        <p:spPr>
          <a:xfrm>
            <a:off x="4754880" y="4663440"/>
            <a:ext cx="292608" cy="292608"/>
          </a:xfrm>
          <a:prstGeom prst="rect">
            <a:avLst/>
          </a:prstGeom>
        </p:spPr>
      </p:pic>
      <p:sp>
        <p:nvSpPr>
          <p:cNvPr id="15" name="Text 10"/>
          <p:cNvSpPr/>
          <p:nvPr/>
        </p:nvSpPr>
        <p:spPr>
          <a:xfrm>
            <a:off x="5102352" y="4526280"/>
            <a:ext cx="1325880" cy="56692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MongoDB</a:t>
            </a:r>
            <a:endParaRPr lang="en-US" sz="1050" dirty="0"/>
          </a:p>
        </p:txBody>
      </p:sp>
      <p:sp>
        <p:nvSpPr>
          <p:cNvPr id="16" name="Shape 11"/>
          <p:cNvSpPr/>
          <p:nvPr/>
        </p:nvSpPr>
        <p:spPr>
          <a:xfrm>
            <a:off x="6620256" y="4526280"/>
            <a:ext cx="1874520" cy="566928"/>
          </a:xfrm>
          <a:prstGeom prst="roundRect">
            <a:avLst>
              <a:gd name="adj" fmla="val 16129"/>
            </a:avLst>
          </a:prstGeom>
          <a:solidFill>
            <a:srgbClr val="1B2D4F"/>
          </a:solidFill>
          <a:ln w="12700">
            <a:solidFill>
              <a:srgbClr val="2C4270"/>
            </a:solidFill>
            <a:prstDash val="solid"/>
          </a:ln>
        </p:spPr>
      </p:sp>
      <p:pic>
        <p:nvPicPr>
          <p:cNvPr id="17" name="Image 3" descr="preencoded.png">    </p:cNvPr>
          <p:cNvPicPr>
            <a:picLocks noChangeAspect="1"/>
          </p:cNvPicPr>
          <p:nvPr/>
        </p:nvPicPr>
        <p:blipFill>
          <a:blip r:embed="rId4"/>
          <a:stretch>
            <a:fillRect/>
          </a:stretch>
        </p:blipFill>
        <p:spPr>
          <a:xfrm>
            <a:off x="6748272" y="4663440"/>
            <a:ext cx="292608" cy="292608"/>
          </a:xfrm>
          <a:prstGeom prst="rect">
            <a:avLst/>
          </a:prstGeom>
        </p:spPr>
      </p:pic>
      <p:sp>
        <p:nvSpPr>
          <p:cNvPr id="18" name="Text 12"/>
          <p:cNvSpPr/>
          <p:nvPr/>
        </p:nvSpPr>
        <p:spPr>
          <a:xfrm>
            <a:off x="7095744" y="4526280"/>
            <a:ext cx="1325880" cy="56692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JWT Auth</a:t>
            </a:r>
            <a:endParaRPr lang="en-US" sz="1050" dirty="0"/>
          </a:p>
        </p:txBody>
      </p:sp>
      <p:sp>
        <p:nvSpPr>
          <p:cNvPr id="19" name="Text 13"/>
          <p:cNvSpPr/>
          <p:nvPr/>
        </p:nvSpPr>
        <p:spPr>
          <a:xfrm>
            <a:off x="640080" y="5623560"/>
            <a:ext cx="5486400" cy="8229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Yudeshna Nalla</a:t>
            </a:r>
            <a:endParaRPr lang="en-US" sz="1600" dirty="0"/>
          </a:p>
          <a:p>
            <a:pPr indent="0" marL="0">
              <a:buNone/>
            </a:pPr>
            <a:r>
              <a:rPr lang="en-US" sz="1250" dirty="0">
                <a:solidFill>
                  <a:srgbClr val="94A3B8"/>
                </a:solidFill>
                <a:latin typeface="Calibri" pitchFamily="34" charset="0"/>
                <a:ea typeface="Calibri" pitchFamily="34" charset="-122"/>
                <a:cs typeface="Calibri" pitchFamily="34" charset="-120"/>
              </a:rPr>
              <a:t>B.Tech — Artificial Intelligence &amp; Data Science</a:t>
            </a:r>
            <a:endParaRPr lang="en-US" sz="1600" dirty="0"/>
          </a:p>
        </p:txBody>
      </p:sp>
      <p:sp>
        <p:nvSpPr>
          <p:cNvPr id="20" name="Text 14"/>
          <p:cNvSpPr/>
          <p:nvPr/>
        </p:nvSpPr>
        <p:spPr>
          <a:xfrm>
            <a:off x="640080" y="6355080"/>
            <a:ext cx="6400800" cy="32004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Annamacharya Institute of Technology &amp; Sciences, Tirupati</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548640"/>
          </a:xfrm>
          <a:prstGeom prst="rect">
            <a:avLst/>
          </a:prstGeom>
          <a:noFill/>
          <a:ln/>
        </p:spPr>
        <p:txBody>
          <a:bodyPr wrap="square" lIns="0" tIns="0" rIns="0" bIns="0" rtlCol="0" anchor="ctr"/>
          <a:lstStyle/>
          <a:p>
            <a:pPr indent="0" marL="0">
              <a:buNone/>
            </a:pPr>
            <a:r>
              <a:rPr lang="en-US" sz="3000" b="1" dirty="0">
                <a:solidFill>
                  <a:srgbClr val="0F172A"/>
                </a:solidFill>
                <a:latin typeface="Cambria" pitchFamily="34" charset="0"/>
                <a:ea typeface="Cambria" pitchFamily="34" charset="-122"/>
                <a:cs typeface="Cambria" pitchFamily="34" charset="-120"/>
              </a:rPr>
              <a:t>Problem Statement &amp; Objectives</a:t>
            </a:r>
            <a:endParaRPr lang="en-US" sz="3000" dirty="0"/>
          </a:p>
        </p:txBody>
      </p:sp>
      <p:sp>
        <p:nvSpPr>
          <p:cNvPr id="3" name="Text 1"/>
          <p:cNvSpPr/>
          <p:nvPr/>
        </p:nvSpPr>
        <p:spPr>
          <a:xfrm>
            <a:off x="548640" y="960120"/>
            <a:ext cx="9144000" cy="365760"/>
          </a:xfrm>
          <a:prstGeom prst="rect">
            <a:avLst/>
          </a:prstGeom>
          <a:noFill/>
          <a:ln/>
        </p:spPr>
        <p:txBody>
          <a:bodyPr wrap="square" lIns="0" tIns="0" rIns="0" bIns="0" rtlCol="0" anchor="ctr"/>
          <a:lstStyle/>
          <a:p>
            <a:pPr indent="0" marL="0">
              <a:buNone/>
            </a:pPr>
            <a:r>
              <a:rPr lang="en-US" sz="1350" i="1" dirty="0">
                <a:solidFill>
                  <a:srgbClr val="475569"/>
                </a:solidFill>
                <a:latin typeface="Calibri" pitchFamily="34" charset="0"/>
                <a:ea typeface="Calibri" pitchFamily="34" charset="-122"/>
                <a:cs typeface="Calibri" pitchFamily="34" charset="-120"/>
              </a:rPr>
              <a:t>Why manual recruitment doesn't scale — and what this project solves</a:t>
            </a:r>
            <a:endParaRPr lang="en-US" sz="1350" dirty="0"/>
          </a:p>
        </p:txBody>
      </p:sp>
      <p:sp>
        <p:nvSpPr>
          <p:cNvPr id="4" name="Shape 2"/>
          <p:cNvSpPr/>
          <p:nvPr/>
        </p:nvSpPr>
        <p:spPr>
          <a:xfrm>
            <a:off x="548640" y="1508760"/>
            <a:ext cx="5394960" cy="4754880"/>
          </a:xfrm>
          <a:prstGeom prst="roundRect">
            <a:avLst>
              <a:gd name="adj" fmla="val 1538"/>
            </a:avLst>
          </a:prstGeom>
          <a:solidFill>
            <a:srgbClr val="F1F5F9"/>
          </a:solidFill>
          <a:ln/>
          <a:effectLst>
            <a:outerShdw sx="100000" sy="100000" kx="0" ky="0" algn="bl" rotWithShape="0" blurRad="76200" dist="25400" dir="2700000">
              <a:srgbClr val="000000">
                <a:alpha val="8000"/>
              </a:srgbClr>
            </a:outerShdw>
          </a:effectLst>
        </p:spPr>
      </p:sp>
      <p:pic>
        <p:nvPicPr>
          <p:cNvPr id="5" name="Image 0" descr="preencoded.png">    </p:cNvPr>
          <p:cNvPicPr>
            <a:picLocks noChangeAspect="1"/>
          </p:cNvPicPr>
          <p:nvPr/>
        </p:nvPicPr>
        <p:blipFill>
          <a:blip r:embed="rId1"/>
          <a:stretch>
            <a:fillRect/>
          </a:stretch>
        </p:blipFill>
        <p:spPr>
          <a:xfrm>
            <a:off x="868680" y="1783080"/>
            <a:ext cx="384048" cy="384048"/>
          </a:xfrm>
          <a:prstGeom prst="rect">
            <a:avLst/>
          </a:prstGeom>
        </p:spPr>
      </p:pic>
      <p:sp>
        <p:nvSpPr>
          <p:cNvPr id="6" name="Text 3"/>
          <p:cNvSpPr/>
          <p:nvPr/>
        </p:nvSpPr>
        <p:spPr>
          <a:xfrm>
            <a:off x="1371600" y="1783080"/>
            <a:ext cx="4297680" cy="411480"/>
          </a:xfrm>
          <a:prstGeom prst="rect">
            <a:avLst/>
          </a:prstGeom>
          <a:noFill/>
          <a:ln/>
        </p:spPr>
        <p:txBody>
          <a:bodyPr wrap="square" lIns="0" tIns="0" rIns="0" bIns="0" rtlCol="0" anchor="ctr"/>
          <a:lstStyle/>
          <a:p>
            <a:pPr indent="0" marL="0">
              <a:buNone/>
            </a:pPr>
            <a:r>
              <a:rPr lang="en-US" sz="1650" b="1" dirty="0">
                <a:solidFill>
                  <a:srgbClr val="0F172A"/>
                </a:solidFill>
                <a:latin typeface="Cambria" pitchFamily="34" charset="0"/>
                <a:ea typeface="Cambria" pitchFamily="34" charset="-122"/>
                <a:cs typeface="Cambria" pitchFamily="34" charset="-120"/>
              </a:rPr>
              <a:t>The Recruitment Bottleneck</a:t>
            </a:r>
            <a:endParaRPr lang="en-US" sz="1650" dirty="0"/>
          </a:p>
        </p:txBody>
      </p:sp>
      <p:sp>
        <p:nvSpPr>
          <p:cNvPr id="7" name="Text 4"/>
          <p:cNvSpPr/>
          <p:nvPr/>
        </p:nvSpPr>
        <p:spPr>
          <a:xfrm>
            <a:off x="868680" y="2377440"/>
            <a:ext cx="4754880" cy="365760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1300" dirty="0">
                <a:solidFill>
                  <a:srgbClr val="475569"/>
                </a:solidFill>
                <a:latin typeface="Calibri" pitchFamily="34" charset="0"/>
                <a:ea typeface="Calibri" pitchFamily="34" charset="-122"/>
                <a:cs typeface="Calibri" pitchFamily="34" charset="-120"/>
              </a:rPr>
              <a:t>Recruiters manually screen 100s of resumes per job opening, costing days of effort</a:t>
            </a:r>
            <a:endParaRPr lang="en-US" sz="1300" dirty="0"/>
          </a:p>
          <a:p>
            <a:pPr marL="342900" indent="-342900">
              <a:lnSpc>
                <a:spcPct val="115000"/>
              </a:lnSpc>
              <a:spcAft>
                <a:spcPts val="1000"/>
              </a:spcAft>
              <a:buSzPct val="100000"/>
              <a:buChar char="•"/>
            </a:pPr>
            <a:r>
              <a:rPr lang="en-US" sz="1300" dirty="0">
                <a:solidFill>
                  <a:srgbClr val="475569"/>
                </a:solidFill>
                <a:latin typeface="Calibri" pitchFamily="34" charset="0"/>
                <a:ea typeface="Calibri" pitchFamily="34" charset="-122"/>
                <a:cs typeface="Calibri" pitchFamily="34" charset="-120"/>
              </a:rPr>
              <a:t>No standardized way to rank candidates against job requirements</a:t>
            </a:r>
            <a:endParaRPr lang="en-US" sz="1300" dirty="0"/>
          </a:p>
          <a:p>
            <a:pPr marL="342900" indent="-342900">
              <a:lnSpc>
                <a:spcPct val="115000"/>
              </a:lnSpc>
              <a:spcAft>
                <a:spcPts val="1000"/>
              </a:spcAft>
              <a:buSzPct val="100000"/>
              <a:buChar char="•"/>
            </a:pPr>
            <a:r>
              <a:rPr lang="en-US" sz="1300" dirty="0">
                <a:solidFill>
                  <a:srgbClr val="475569"/>
                </a:solidFill>
                <a:latin typeface="Calibri" pitchFamily="34" charset="0"/>
                <a:ea typeface="Calibri" pitchFamily="34" charset="-122"/>
                <a:cs typeface="Calibri" pitchFamily="34" charset="-120"/>
              </a:rPr>
              <a:t>Manual tracking of applicant status leads to delays and lost candidates</a:t>
            </a:r>
            <a:endParaRPr lang="en-US" sz="1300" dirty="0"/>
          </a:p>
          <a:p>
            <a:pPr marL="342900" indent="-342900">
              <a:lnSpc>
                <a:spcPct val="115000"/>
              </a:lnSpc>
              <a:spcAft>
                <a:spcPts val="1000"/>
              </a:spcAft>
              <a:buSzPct val="100000"/>
              <a:buChar char="•"/>
            </a:pPr>
            <a:r>
              <a:rPr lang="en-US" sz="1300" dirty="0">
                <a:solidFill>
                  <a:srgbClr val="475569"/>
                </a:solidFill>
                <a:latin typeface="Calibri" pitchFamily="34" charset="0"/>
                <a:ea typeface="Calibri" pitchFamily="34" charset="-122"/>
                <a:cs typeface="Calibri" pitchFamily="34" charset="-120"/>
              </a:rPr>
              <a:t>Candidates get no visibility into how well their resume matches a role</a:t>
            </a:r>
            <a:endParaRPr lang="en-US" sz="1300" dirty="0"/>
          </a:p>
        </p:txBody>
      </p:sp>
      <p:sp>
        <p:nvSpPr>
          <p:cNvPr id="8" name="Shape 5"/>
          <p:cNvSpPr/>
          <p:nvPr/>
        </p:nvSpPr>
        <p:spPr>
          <a:xfrm>
            <a:off x="6172200" y="1508760"/>
            <a:ext cx="5440680" cy="4754880"/>
          </a:xfrm>
          <a:prstGeom prst="roundRect">
            <a:avLst>
              <a:gd name="adj" fmla="val 1538"/>
            </a:avLst>
          </a:prstGeom>
          <a:solidFill>
            <a:srgbClr val="11203A"/>
          </a:solidFill>
          <a:ln/>
          <a:effectLst>
            <a:outerShdw sx="100000" sy="100000" kx="0" ky="0" algn="bl" rotWithShape="0" blurRad="76200" dist="25400" dir="2700000">
              <a:srgbClr val="000000">
                <a:alpha val="10000"/>
              </a:srgbClr>
            </a:outerShdw>
          </a:effectLst>
        </p:spPr>
      </p:sp>
      <p:pic>
        <p:nvPicPr>
          <p:cNvPr id="9" name="Image 1" descr="preencoded.png">    </p:cNvPr>
          <p:cNvPicPr>
            <a:picLocks noChangeAspect="1"/>
          </p:cNvPicPr>
          <p:nvPr/>
        </p:nvPicPr>
        <p:blipFill>
          <a:blip r:embed="rId2"/>
          <a:stretch>
            <a:fillRect/>
          </a:stretch>
        </p:blipFill>
        <p:spPr>
          <a:xfrm>
            <a:off x="6492240" y="1783080"/>
            <a:ext cx="384048" cy="384048"/>
          </a:xfrm>
          <a:prstGeom prst="rect">
            <a:avLst/>
          </a:prstGeom>
        </p:spPr>
      </p:pic>
      <p:sp>
        <p:nvSpPr>
          <p:cNvPr id="10" name="Text 6"/>
          <p:cNvSpPr/>
          <p:nvPr/>
        </p:nvSpPr>
        <p:spPr>
          <a:xfrm>
            <a:off x="6995160" y="1783080"/>
            <a:ext cx="4297680" cy="411480"/>
          </a:xfrm>
          <a:prstGeom prst="rect">
            <a:avLst/>
          </a:prstGeom>
          <a:noFill/>
          <a:ln/>
        </p:spPr>
        <p:txBody>
          <a:bodyPr wrap="square" lIns="0" tIns="0" rIns="0" bIns="0" rtlCol="0" anchor="ctr"/>
          <a:lstStyle/>
          <a:p>
            <a:pPr indent="0" marL="0">
              <a:buNone/>
            </a:pPr>
            <a:r>
              <a:rPr lang="en-US" sz="1650" b="1" dirty="0">
                <a:solidFill>
                  <a:srgbClr val="FFFFFF"/>
                </a:solidFill>
                <a:latin typeface="Cambria" pitchFamily="34" charset="0"/>
                <a:ea typeface="Cambria" pitchFamily="34" charset="-122"/>
                <a:cs typeface="Cambria" pitchFamily="34" charset="-120"/>
              </a:rPr>
              <a:t>Project Objectives</a:t>
            </a:r>
            <a:endParaRPr lang="en-US" sz="1650" dirty="0"/>
          </a:p>
        </p:txBody>
      </p:sp>
      <p:pic>
        <p:nvPicPr>
          <p:cNvPr id="11" name="Image 2" descr="preencoded.png">    </p:cNvPr>
          <p:cNvPicPr>
            <a:picLocks noChangeAspect="1"/>
          </p:cNvPicPr>
          <p:nvPr/>
        </p:nvPicPr>
        <p:blipFill>
          <a:blip r:embed="rId3"/>
          <a:stretch>
            <a:fillRect/>
          </a:stretch>
        </p:blipFill>
        <p:spPr>
          <a:xfrm>
            <a:off x="6492240" y="2450592"/>
            <a:ext cx="237744" cy="237744"/>
          </a:xfrm>
          <a:prstGeom prst="rect">
            <a:avLst/>
          </a:prstGeom>
        </p:spPr>
      </p:pic>
      <p:sp>
        <p:nvSpPr>
          <p:cNvPr id="12" name="Text 7"/>
          <p:cNvSpPr/>
          <p:nvPr/>
        </p:nvSpPr>
        <p:spPr>
          <a:xfrm>
            <a:off x="6858000" y="2423160"/>
            <a:ext cx="4526280" cy="640080"/>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Automate Screening  </a:t>
            </a:r>
            <a:pPr indent="0" marL="0">
              <a:buNone/>
            </a:pPr>
            <a:r>
              <a:rPr lang="en-US" sz="1200" dirty="0">
                <a:solidFill>
                  <a:srgbClr val="AFC0DC"/>
                </a:solidFill>
                <a:latin typeface="Calibri" pitchFamily="34" charset="0"/>
                <a:ea typeface="Calibri" pitchFamily="34" charset="-122"/>
                <a:cs typeface="Calibri" pitchFamily="34" charset="-120"/>
              </a:rPr>
              <a:t>Use AI to score resumes against job descriptions instantly</a:t>
            </a:r>
            <a:endParaRPr lang="en-US" sz="1250" dirty="0"/>
          </a:p>
        </p:txBody>
      </p:sp>
      <p:pic>
        <p:nvPicPr>
          <p:cNvPr id="13" name="Image 3" descr="preencoded.png">    </p:cNvPr>
          <p:cNvPicPr>
            <a:picLocks noChangeAspect="1"/>
          </p:cNvPicPr>
          <p:nvPr/>
        </p:nvPicPr>
        <p:blipFill>
          <a:blip r:embed="rId4"/>
          <a:stretch>
            <a:fillRect/>
          </a:stretch>
        </p:blipFill>
        <p:spPr>
          <a:xfrm>
            <a:off x="6492240" y="3236976"/>
            <a:ext cx="237744" cy="237744"/>
          </a:xfrm>
          <a:prstGeom prst="rect">
            <a:avLst/>
          </a:prstGeom>
        </p:spPr>
      </p:pic>
      <p:sp>
        <p:nvSpPr>
          <p:cNvPr id="14" name="Text 8"/>
          <p:cNvSpPr/>
          <p:nvPr/>
        </p:nvSpPr>
        <p:spPr>
          <a:xfrm>
            <a:off x="6858000" y="3209544"/>
            <a:ext cx="4526280" cy="640080"/>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Centralize the Pipeline  </a:t>
            </a:r>
            <a:pPr indent="0" marL="0">
              <a:buNone/>
            </a:pPr>
            <a:r>
              <a:rPr lang="en-US" sz="1200" dirty="0">
                <a:solidFill>
                  <a:srgbClr val="AFC0DC"/>
                </a:solidFill>
                <a:latin typeface="Calibri" pitchFamily="34" charset="0"/>
                <a:ea typeface="Calibri" pitchFamily="34" charset="-122"/>
                <a:cs typeface="Calibri" pitchFamily="34" charset="-120"/>
              </a:rPr>
              <a:t>One platform for posting, applying, and tracking status</a:t>
            </a:r>
            <a:endParaRPr lang="en-US" sz="1250" dirty="0"/>
          </a:p>
        </p:txBody>
      </p:sp>
      <p:pic>
        <p:nvPicPr>
          <p:cNvPr id="15" name="Image 4" descr="preencoded.png">    </p:cNvPr>
          <p:cNvPicPr>
            <a:picLocks noChangeAspect="1"/>
          </p:cNvPicPr>
          <p:nvPr/>
        </p:nvPicPr>
        <p:blipFill>
          <a:blip r:embed="rId5"/>
          <a:stretch>
            <a:fillRect/>
          </a:stretch>
        </p:blipFill>
        <p:spPr>
          <a:xfrm>
            <a:off x="6492240" y="4023360"/>
            <a:ext cx="237744" cy="237744"/>
          </a:xfrm>
          <a:prstGeom prst="rect">
            <a:avLst/>
          </a:prstGeom>
        </p:spPr>
      </p:pic>
      <p:sp>
        <p:nvSpPr>
          <p:cNvPr id="16" name="Text 9"/>
          <p:cNvSpPr/>
          <p:nvPr/>
        </p:nvSpPr>
        <p:spPr>
          <a:xfrm>
            <a:off x="6858000" y="3995928"/>
            <a:ext cx="4526280" cy="640080"/>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Empower Both Sides  </a:t>
            </a:r>
            <a:pPr indent="0" marL="0">
              <a:buNone/>
            </a:pPr>
            <a:r>
              <a:rPr lang="en-US" sz="1200" dirty="0">
                <a:solidFill>
                  <a:srgbClr val="AFC0DC"/>
                </a:solidFill>
                <a:latin typeface="Calibri" pitchFamily="34" charset="0"/>
                <a:ea typeface="Calibri" pitchFamily="34" charset="-122"/>
                <a:cs typeface="Calibri" pitchFamily="34" charset="-120"/>
              </a:rPr>
              <a:t>Dashboards for recruiters and candidates alike</a:t>
            </a:r>
            <a:endParaRPr lang="en-US" sz="1250" dirty="0"/>
          </a:p>
        </p:txBody>
      </p:sp>
      <p:pic>
        <p:nvPicPr>
          <p:cNvPr id="17" name="Image 5" descr="preencoded.png">    </p:cNvPr>
          <p:cNvPicPr>
            <a:picLocks noChangeAspect="1"/>
          </p:cNvPicPr>
          <p:nvPr/>
        </p:nvPicPr>
        <p:blipFill>
          <a:blip r:embed="rId6"/>
          <a:stretch>
            <a:fillRect/>
          </a:stretch>
        </p:blipFill>
        <p:spPr>
          <a:xfrm>
            <a:off x="6492240" y="4809744"/>
            <a:ext cx="237744" cy="237744"/>
          </a:xfrm>
          <a:prstGeom prst="rect">
            <a:avLst/>
          </a:prstGeom>
        </p:spPr>
      </p:pic>
      <p:sp>
        <p:nvSpPr>
          <p:cNvPr id="18" name="Text 10"/>
          <p:cNvSpPr/>
          <p:nvPr/>
        </p:nvSpPr>
        <p:spPr>
          <a:xfrm>
            <a:off x="6858000" y="4782312"/>
            <a:ext cx="4526280" cy="640080"/>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Secure by Design  </a:t>
            </a:r>
            <a:pPr indent="0" marL="0">
              <a:buNone/>
            </a:pPr>
            <a:r>
              <a:rPr lang="en-US" sz="1200" dirty="0">
                <a:solidFill>
                  <a:srgbClr val="AFC0DC"/>
                </a:solidFill>
                <a:latin typeface="Calibri" pitchFamily="34" charset="0"/>
                <a:ea typeface="Calibri" pitchFamily="34" charset="-122"/>
                <a:cs typeface="Calibri" pitchFamily="34" charset="-120"/>
              </a:rPr>
              <a:t>Role-based access with JWT authentication</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548640"/>
          </a:xfrm>
          <a:prstGeom prst="rect">
            <a:avLst/>
          </a:prstGeom>
          <a:noFill/>
          <a:ln/>
        </p:spPr>
        <p:txBody>
          <a:bodyPr wrap="square" lIns="0" tIns="0" rIns="0" bIns="0" rtlCol="0" anchor="ctr"/>
          <a:lstStyle/>
          <a:p>
            <a:pPr indent="0" marL="0">
              <a:buNone/>
            </a:pPr>
            <a:r>
              <a:rPr lang="en-US" sz="3000" b="1" dirty="0">
                <a:solidFill>
                  <a:srgbClr val="0F172A"/>
                </a:solidFill>
                <a:latin typeface="Cambria" pitchFamily="34" charset="0"/>
                <a:ea typeface="Cambria" pitchFamily="34" charset="-122"/>
                <a:cs typeface="Cambria" pitchFamily="34" charset="-120"/>
              </a:rPr>
              <a:t>System Architecture &amp; Methodology</a:t>
            </a:r>
            <a:endParaRPr lang="en-US" sz="3000" dirty="0"/>
          </a:p>
        </p:txBody>
      </p:sp>
      <p:sp>
        <p:nvSpPr>
          <p:cNvPr id="3" name="Text 1"/>
          <p:cNvSpPr/>
          <p:nvPr/>
        </p:nvSpPr>
        <p:spPr>
          <a:xfrm>
            <a:off x="548640" y="914400"/>
            <a:ext cx="10058400" cy="365760"/>
          </a:xfrm>
          <a:prstGeom prst="rect">
            <a:avLst/>
          </a:prstGeom>
          <a:noFill/>
          <a:ln/>
        </p:spPr>
        <p:txBody>
          <a:bodyPr wrap="square" lIns="0" tIns="0" rIns="0" bIns="0" rtlCol="0" anchor="ctr"/>
          <a:lstStyle/>
          <a:p>
            <a:pPr indent="0" marL="0">
              <a:buNone/>
            </a:pPr>
            <a:r>
              <a:rPr lang="en-US" sz="1350" i="1" dirty="0">
                <a:solidFill>
                  <a:srgbClr val="475569"/>
                </a:solidFill>
                <a:latin typeface="Calibri" pitchFamily="34" charset="0"/>
                <a:ea typeface="Calibri" pitchFamily="34" charset="-122"/>
                <a:cs typeface="Calibri" pitchFamily="34" charset="-120"/>
              </a:rPr>
              <a:t>A four-layer architecture connecting UI, business logic, data, and AI scoring</a:t>
            </a:r>
            <a:endParaRPr lang="en-US" sz="1350" dirty="0"/>
          </a:p>
        </p:txBody>
      </p:sp>
      <p:sp>
        <p:nvSpPr>
          <p:cNvPr id="4" name="Shape 2"/>
          <p:cNvSpPr/>
          <p:nvPr/>
        </p:nvSpPr>
        <p:spPr>
          <a:xfrm>
            <a:off x="548640" y="1554480"/>
            <a:ext cx="2514600" cy="3246120"/>
          </a:xfrm>
          <a:prstGeom prst="roundRect">
            <a:avLst>
              <a:gd name="adj" fmla="val 3273"/>
            </a:avLst>
          </a:prstGeom>
          <a:solidFill>
            <a:srgbClr val="F1F5F9"/>
          </a:solidFill>
          <a:ln/>
          <a:effectLst>
            <a:outerShdw sx="100000" sy="100000" kx="0" ky="0" algn="bl" rotWithShape="0" blurRad="76200" dist="25400" dir="2700000">
              <a:srgbClr val="000000">
                <a:alpha val="10000"/>
              </a:srgbClr>
            </a:outerShdw>
          </a:effectLst>
        </p:spPr>
      </p:sp>
      <p:sp>
        <p:nvSpPr>
          <p:cNvPr id="5" name="Shape 3"/>
          <p:cNvSpPr/>
          <p:nvPr/>
        </p:nvSpPr>
        <p:spPr>
          <a:xfrm>
            <a:off x="1440180" y="1847088"/>
            <a:ext cx="731520" cy="731520"/>
          </a:xfrm>
          <a:prstGeom prst="ellipse">
            <a:avLst/>
          </a:prstGeom>
          <a:solidFill>
            <a:srgbClr val="FFFFFF"/>
          </a:solidFill>
          <a:ln/>
        </p:spPr>
      </p:sp>
      <p:pic>
        <p:nvPicPr>
          <p:cNvPr id="6" name="Image 0" descr="preencoded.png">    </p:cNvPr>
          <p:cNvPicPr>
            <a:picLocks noChangeAspect="1"/>
          </p:cNvPicPr>
          <p:nvPr/>
        </p:nvPicPr>
        <p:blipFill>
          <a:blip r:embed="rId1"/>
          <a:stretch>
            <a:fillRect/>
          </a:stretch>
        </p:blipFill>
        <p:spPr>
          <a:xfrm>
            <a:off x="1604772" y="2011680"/>
            <a:ext cx="402336" cy="402336"/>
          </a:xfrm>
          <a:prstGeom prst="rect">
            <a:avLst/>
          </a:prstGeom>
        </p:spPr>
      </p:pic>
      <p:sp>
        <p:nvSpPr>
          <p:cNvPr id="7" name="Text 4"/>
          <p:cNvSpPr/>
          <p:nvPr/>
        </p:nvSpPr>
        <p:spPr>
          <a:xfrm>
            <a:off x="640080" y="2743200"/>
            <a:ext cx="2331720" cy="365760"/>
          </a:xfrm>
          <a:prstGeom prst="rect">
            <a:avLst/>
          </a:prstGeom>
          <a:noFill/>
          <a:ln/>
        </p:spPr>
        <p:txBody>
          <a:bodyPr wrap="square" lIns="0" tIns="0" rIns="0" bIns="0" rtlCol="0" anchor="ctr"/>
          <a:lstStyle/>
          <a:p>
            <a:pPr algn="ctr" indent="0" marL="0">
              <a:buNone/>
            </a:pPr>
            <a:r>
              <a:rPr lang="en-US" sz="1450" b="1" dirty="0">
                <a:solidFill>
                  <a:srgbClr val="0F172A"/>
                </a:solidFill>
                <a:latin typeface="Cambria" pitchFamily="34" charset="0"/>
                <a:ea typeface="Cambria" pitchFamily="34" charset="-122"/>
                <a:cs typeface="Cambria" pitchFamily="34" charset="-120"/>
              </a:rPr>
              <a:t>React Frontend</a:t>
            </a:r>
            <a:endParaRPr lang="en-US" sz="1450" dirty="0"/>
          </a:p>
        </p:txBody>
      </p:sp>
      <p:sp>
        <p:nvSpPr>
          <p:cNvPr id="8" name="Text 5"/>
          <p:cNvSpPr/>
          <p:nvPr/>
        </p:nvSpPr>
        <p:spPr>
          <a:xfrm>
            <a:off x="640080" y="3090672"/>
            <a:ext cx="2331720" cy="274320"/>
          </a:xfrm>
          <a:prstGeom prst="rect">
            <a:avLst/>
          </a:prstGeom>
          <a:noFill/>
          <a:ln/>
        </p:spPr>
        <p:txBody>
          <a:bodyPr wrap="square" lIns="0" tIns="0" rIns="0" bIns="0" rtlCol="0" anchor="ctr"/>
          <a:lstStyle/>
          <a:p>
            <a:pPr algn="ctr" indent="0" marL="0">
              <a:buNone/>
            </a:pPr>
            <a:r>
              <a:rPr lang="en-US" sz="1050" b="1" dirty="0">
                <a:solidFill>
                  <a:srgbClr val="0D9488"/>
                </a:solidFill>
                <a:latin typeface="Calibri" pitchFamily="34" charset="0"/>
                <a:ea typeface="Calibri" pitchFamily="34" charset="-122"/>
                <a:cs typeface="Calibri" pitchFamily="34" charset="-120"/>
              </a:rPr>
              <a:t>Tailwind CSS UI</a:t>
            </a:r>
            <a:endParaRPr lang="en-US" sz="1050" dirty="0"/>
          </a:p>
        </p:txBody>
      </p:sp>
      <p:sp>
        <p:nvSpPr>
          <p:cNvPr id="9" name="Text 6"/>
          <p:cNvSpPr/>
          <p:nvPr/>
        </p:nvSpPr>
        <p:spPr>
          <a:xfrm>
            <a:off x="713232" y="3429000"/>
            <a:ext cx="2185416" cy="1280160"/>
          </a:xfrm>
          <a:prstGeom prst="rect">
            <a:avLst/>
          </a:prstGeom>
          <a:noFill/>
          <a:ln/>
        </p:spPr>
        <p:txBody>
          <a:bodyPr wrap="square" lIns="0" tIns="0" rIns="0" bIns="0" rtlCol="0" anchor="t"/>
          <a:lstStyle/>
          <a:p>
            <a:pPr algn="ctr" indent="0" marL="0">
              <a:lnSpc>
                <a:spcPct val="115000"/>
              </a:lnSpc>
              <a:buNone/>
            </a:pPr>
            <a:r>
              <a:rPr lang="en-US" sz="1050" dirty="0">
                <a:solidFill>
                  <a:srgbClr val="475569"/>
                </a:solidFill>
                <a:latin typeface="Calibri" pitchFamily="34" charset="0"/>
                <a:ea typeface="Calibri" pitchFamily="34" charset="-122"/>
                <a:cs typeface="Calibri" pitchFamily="34" charset="-120"/>
              </a:rPr>
              <a:t>Login, dashboards, job search &amp; application forms</a:t>
            </a:r>
            <a:endParaRPr lang="en-US" sz="1050" dirty="0"/>
          </a:p>
        </p:txBody>
      </p:sp>
      <p:pic>
        <p:nvPicPr>
          <p:cNvPr id="10" name="Image 1" descr="preencoded.png">    </p:cNvPr>
          <p:cNvPicPr>
            <a:picLocks noChangeAspect="1"/>
          </p:cNvPicPr>
          <p:nvPr/>
        </p:nvPicPr>
        <p:blipFill>
          <a:blip r:embed="rId2"/>
          <a:stretch>
            <a:fillRect/>
          </a:stretch>
        </p:blipFill>
        <p:spPr>
          <a:xfrm>
            <a:off x="3127248" y="3049524"/>
            <a:ext cx="256032" cy="256032"/>
          </a:xfrm>
          <a:prstGeom prst="rect">
            <a:avLst/>
          </a:prstGeom>
        </p:spPr>
      </p:pic>
      <p:sp>
        <p:nvSpPr>
          <p:cNvPr id="11" name="Shape 7"/>
          <p:cNvSpPr/>
          <p:nvPr/>
        </p:nvSpPr>
        <p:spPr>
          <a:xfrm>
            <a:off x="3447288" y="1554480"/>
            <a:ext cx="2514600" cy="3246120"/>
          </a:xfrm>
          <a:prstGeom prst="roundRect">
            <a:avLst>
              <a:gd name="adj" fmla="val 3273"/>
            </a:avLst>
          </a:prstGeom>
          <a:solidFill>
            <a:srgbClr val="F1F5F9"/>
          </a:solidFill>
          <a:ln/>
          <a:effectLst>
            <a:outerShdw sx="100000" sy="100000" kx="0" ky="0" algn="bl" rotWithShape="0" blurRad="76200" dist="25400" dir="2700000">
              <a:srgbClr val="000000">
                <a:alpha val="10000"/>
              </a:srgbClr>
            </a:outerShdw>
          </a:effectLst>
        </p:spPr>
      </p:sp>
      <p:sp>
        <p:nvSpPr>
          <p:cNvPr id="12" name="Shape 8"/>
          <p:cNvSpPr/>
          <p:nvPr/>
        </p:nvSpPr>
        <p:spPr>
          <a:xfrm>
            <a:off x="4338828" y="1847088"/>
            <a:ext cx="731520" cy="731520"/>
          </a:xfrm>
          <a:prstGeom prst="ellipse">
            <a:avLst/>
          </a:prstGeom>
          <a:solidFill>
            <a:srgbClr val="FFFFFF"/>
          </a:solidFill>
          <a:ln/>
        </p:spPr>
      </p:sp>
      <p:pic>
        <p:nvPicPr>
          <p:cNvPr id="13" name="Image 2" descr="preencoded.png">    </p:cNvPr>
          <p:cNvPicPr>
            <a:picLocks noChangeAspect="1"/>
          </p:cNvPicPr>
          <p:nvPr/>
        </p:nvPicPr>
        <p:blipFill>
          <a:blip r:embed="rId3"/>
          <a:stretch>
            <a:fillRect/>
          </a:stretch>
        </p:blipFill>
        <p:spPr>
          <a:xfrm>
            <a:off x="4503420" y="2011680"/>
            <a:ext cx="402336" cy="402336"/>
          </a:xfrm>
          <a:prstGeom prst="rect">
            <a:avLst/>
          </a:prstGeom>
        </p:spPr>
      </p:pic>
      <p:sp>
        <p:nvSpPr>
          <p:cNvPr id="14" name="Text 9"/>
          <p:cNvSpPr/>
          <p:nvPr/>
        </p:nvSpPr>
        <p:spPr>
          <a:xfrm>
            <a:off x="3538728" y="2743200"/>
            <a:ext cx="2331720" cy="365760"/>
          </a:xfrm>
          <a:prstGeom prst="rect">
            <a:avLst/>
          </a:prstGeom>
          <a:noFill/>
          <a:ln/>
        </p:spPr>
        <p:txBody>
          <a:bodyPr wrap="square" lIns="0" tIns="0" rIns="0" bIns="0" rtlCol="0" anchor="ctr"/>
          <a:lstStyle/>
          <a:p>
            <a:pPr algn="ctr" indent="0" marL="0">
              <a:buNone/>
            </a:pPr>
            <a:r>
              <a:rPr lang="en-US" sz="1450" b="1" dirty="0">
                <a:solidFill>
                  <a:srgbClr val="0F172A"/>
                </a:solidFill>
                <a:latin typeface="Cambria" pitchFamily="34" charset="0"/>
                <a:ea typeface="Cambria" pitchFamily="34" charset="-122"/>
                <a:cs typeface="Cambria" pitchFamily="34" charset="-120"/>
              </a:rPr>
              <a:t>Node.js / Express</a:t>
            </a:r>
            <a:endParaRPr lang="en-US" sz="1450" dirty="0"/>
          </a:p>
        </p:txBody>
      </p:sp>
      <p:sp>
        <p:nvSpPr>
          <p:cNvPr id="15" name="Text 10"/>
          <p:cNvSpPr/>
          <p:nvPr/>
        </p:nvSpPr>
        <p:spPr>
          <a:xfrm>
            <a:off x="3538728" y="3090672"/>
            <a:ext cx="2331720" cy="274320"/>
          </a:xfrm>
          <a:prstGeom prst="rect">
            <a:avLst/>
          </a:prstGeom>
          <a:noFill/>
          <a:ln/>
        </p:spPr>
        <p:txBody>
          <a:bodyPr wrap="square" lIns="0" tIns="0" rIns="0" bIns="0" rtlCol="0" anchor="ctr"/>
          <a:lstStyle/>
          <a:p>
            <a:pPr algn="ctr" indent="0" marL="0">
              <a:buNone/>
            </a:pPr>
            <a:r>
              <a:rPr lang="en-US" sz="1050" b="1" dirty="0">
                <a:solidFill>
                  <a:srgbClr val="0D9488"/>
                </a:solidFill>
                <a:latin typeface="Calibri" pitchFamily="34" charset="0"/>
                <a:ea typeface="Calibri" pitchFamily="34" charset="-122"/>
                <a:cs typeface="Calibri" pitchFamily="34" charset="-120"/>
              </a:rPr>
              <a:t>REST API + JWT</a:t>
            </a:r>
            <a:endParaRPr lang="en-US" sz="1050" dirty="0"/>
          </a:p>
        </p:txBody>
      </p:sp>
      <p:sp>
        <p:nvSpPr>
          <p:cNvPr id="16" name="Text 11"/>
          <p:cNvSpPr/>
          <p:nvPr/>
        </p:nvSpPr>
        <p:spPr>
          <a:xfrm>
            <a:off x="3611880" y="3429000"/>
            <a:ext cx="2185416" cy="1280160"/>
          </a:xfrm>
          <a:prstGeom prst="rect">
            <a:avLst/>
          </a:prstGeom>
          <a:noFill/>
          <a:ln/>
        </p:spPr>
        <p:txBody>
          <a:bodyPr wrap="square" lIns="0" tIns="0" rIns="0" bIns="0" rtlCol="0" anchor="t"/>
          <a:lstStyle/>
          <a:p>
            <a:pPr algn="ctr" indent="0" marL="0">
              <a:lnSpc>
                <a:spcPct val="115000"/>
              </a:lnSpc>
              <a:buNone/>
            </a:pPr>
            <a:r>
              <a:rPr lang="en-US" sz="1050" dirty="0">
                <a:solidFill>
                  <a:srgbClr val="475569"/>
                </a:solidFill>
                <a:latin typeface="Calibri" pitchFamily="34" charset="0"/>
                <a:ea typeface="Calibri" pitchFamily="34" charset="-122"/>
                <a:cs typeface="Calibri" pitchFamily="34" charset="-120"/>
              </a:rPr>
              <a:t>Auth, job &amp; application endpoints, business logic</a:t>
            </a:r>
            <a:endParaRPr lang="en-US" sz="1050" dirty="0"/>
          </a:p>
        </p:txBody>
      </p:sp>
      <p:pic>
        <p:nvPicPr>
          <p:cNvPr id="17" name="Image 3" descr="preencoded.png">    </p:cNvPr>
          <p:cNvPicPr>
            <a:picLocks noChangeAspect="1"/>
          </p:cNvPicPr>
          <p:nvPr/>
        </p:nvPicPr>
        <p:blipFill>
          <a:blip r:embed="rId4"/>
          <a:stretch>
            <a:fillRect/>
          </a:stretch>
        </p:blipFill>
        <p:spPr>
          <a:xfrm>
            <a:off x="6025896" y="3049524"/>
            <a:ext cx="256032" cy="256032"/>
          </a:xfrm>
          <a:prstGeom prst="rect">
            <a:avLst/>
          </a:prstGeom>
        </p:spPr>
      </p:pic>
      <p:sp>
        <p:nvSpPr>
          <p:cNvPr id="18" name="Shape 12"/>
          <p:cNvSpPr/>
          <p:nvPr/>
        </p:nvSpPr>
        <p:spPr>
          <a:xfrm>
            <a:off x="6345936" y="1554480"/>
            <a:ext cx="2514600" cy="3246120"/>
          </a:xfrm>
          <a:prstGeom prst="roundRect">
            <a:avLst>
              <a:gd name="adj" fmla="val 3273"/>
            </a:avLst>
          </a:prstGeom>
          <a:solidFill>
            <a:srgbClr val="F1F5F9"/>
          </a:solidFill>
          <a:ln/>
          <a:effectLst>
            <a:outerShdw sx="100000" sy="100000" kx="0" ky="0" algn="bl" rotWithShape="0" blurRad="76200" dist="25400" dir="2700000">
              <a:srgbClr val="000000">
                <a:alpha val="10000"/>
              </a:srgbClr>
            </a:outerShdw>
          </a:effectLst>
        </p:spPr>
      </p:sp>
      <p:sp>
        <p:nvSpPr>
          <p:cNvPr id="19" name="Shape 13"/>
          <p:cNvSpPr/>
          <p:nvPr/>
        </p:nvSpPr>
        <p:spPr>
          <a:xfrm>
            <a:off x="7237476" y="1847088"/>
            <a:ext cx="731520" cy="731520"/>
          </a:xfrm>
          <a:prstGeom prst="ellipse">
            <a:avLst/>
          </a:prstGeom>
          <a:solidFill>
            <a:srgbClr val="FFFFFF"/>
          </a:solidFill>
          <a:ln/>
        </p:spPr>
      </p:sp>
      <p:pic>
        <p:nvPicPr>
          <p:cNvPr id="20" name="Image 4" descr="preencoded.png">    </p:cNvPr>
          <p:cNvPicPr>
            <a:picLocks noChangeAspect="1"/>
          </p:cNvPicPr>
          <p:nvPr/>
        </p:nvPicPr>
        <p:blipFill>
          <a:blip r:embed="rId5"/>
          <a:stretch>
            <a:fillRect/>
          </a:stretch>
        </p:blipFill>
        <p:spPr>
          <a:xfrm>
            <a:off x="7402068" y="2011680"/>
            <a:ext cx="402336" cy="402336"/>
          </a:xfrm>
          <a:prstGeom prst="rect">
            <a:avLst/>
          </a:prstGeom>
        </p:spPr>
      </p:pic>
      <p:sp>
        <p:nvSpPr>
          <p:cNvPr id="21" name="Text 14"/>
          <p:cNvSpPr/>
          <p:nvPr/>
        </p:nvSpPr>
        <p:spPr>
          <a:xfrm>
            <a:off x="6437376" y="2743200"/>
            <a:ext cx="2331720" cy="365760"/>
          </a:xfrm>
          <a:prstGeom prst="rect">
            <a:avLst/>
          </a:prstGeom>
          <a:noFill/>
          <a:ln/>
        </p:spPr>
        <p:txBody>
          <a:bodyPr wrap="square" lIns="0" tIns="0" rIns="0" bIns="0" rtlCol="0" anchor="ctr"/>
          <a:lstStyle/>
          <a:p>
            <a:pPr algn="ctr" indent="0" marL="0">
              <a:buNone/>
            </a:pPr>
            <a:r>
              <a:rPr lang="en-US" sz="1450" b="1" dirty="0">
                <a:solidFill>
                  <a:srgbClr val="0F172A"/>
                </a:solidFill>
                <a:latin typeface="Cambria" pitchFamily="34" charset="0"/>
                <a:ea typeface="Cambria" pitchFamily="34" charset="-122"/>
                <a:cs typeface="Cambria" pitchFamily="34" charset="-120"/>
              </a:rPr>
              <a:t>MongoDB</a:t>
            </a:r>
            <a:endParaRPr lang="en-US" sz="1450" dirty="0"/>
          </a:p>
        </p:txBody>
      </p:sp>
      <p:sp>
        <p:nvSpPr>
          <p:cNvPr id="22" name="Text 15"/>
          <p:cNvSpPr/>
          <p:nvPr/>
        </p:nvSpPr>
        <p:spPr>
          <a:xfrm>
            <a:off x="6437376" y="3090672"/>
            <a:ext cx="2331720" cy="274320"/>
          </a:xfrm>
          <a:prstGeom prst="rect">
            <a:avLst/>
          </a:prstGeom>
          <a:noFill/>
          <a:ln/>
        </p:spPr>
        <p:txBody>
          <a:bodyPr wrap="square" lIns="0" tIns="0" rIns="0" bIns="0" rtlCol="0" anchor="ctr"/>
          <a:lstStyle/>
          <a:p>
            <a:pPr algn="ctr" indent="0" marL="0">
              <a:buNone/>
            </a:pPr>
            <a:r>
              <a:rPr lang="en-US" sz="1050" b="1" dirty="0">
                <a:solidFill>
                  <a:srgbClr val="0D9488"/>
                </a:solidFill>
                <a:latin typeface="Calibri" pitchFamily="34" charset="0"/>
                <a:ea typeface="Calibri" pitchFamily="34" charset="-122"/>
                <a:cs typeface="Calibri" pitchFamily="34" charset="-120"/>
              </a:rPr>
              <a:t>Document Store</a:t>
            </a:r>
            <a:endParaRPr lang="en-US" sz="1050" dirty="0"/>
          </a:p>
        </p:txBody>
      </p:sp>
      <p:sp>
        <p:nvSpPr>
          <p:cNvPr id="23" name="Text 16"/>
          <p:cNvSpPr/>
          <p:nvPr/>
        </p:nvSpPr>
        <p:spPr>
          <a:xfrm>
            <a:off x="6510528" y="3429000"/>
            <a:ext cx="2185416" cy="1280160"/>
          </a:xfrm>
          <a:prstGeom prst="rect">
            <a:avLst/>
          </a:prstGeom>
          <a:noFill/>
          <a:ln/>
        </p:spPr>
        <p:txBody>
          <a:bodyPr wrap="square" lIns="0" tIns="0" rIns="0" bIns="0" rtlCol="0" anchor="t"/>
          <a:lstStyle/>
          <a:p>
            <a:pPr algn="ctr" indent="0" marL="0">
              <a:lnSpc>
                <a:spcPct val="115000"/>
              </a:lnSpc>
              <a:buNone/>
            </a:pPr>
            <a:r>
              <a:rPr lang="en-US" sz="1050" dirty="0">
                <a:solidFill>
                  <a:srgbClr val="475569"/>
                </a:solidFill>
                <a:latin typeface="Calibri" pitchFamily="34" charset="0"/>
                <a:ea typeface="Calibri" pitchFamily="34" charset="-122"/>
                <a:cs typeface="Calibri" pitchFamily="34" charset="-120"/>
              </a:rPr>
              <a:t>Users, Jobs, and Applications collections</a:t>
            </a:r>
            <a:endParaRPr lang="en-US" sz="1050" dirty="0"/>
          </a:p>
        </p:txBody>
      </p:sp>
      <p:pic>
        <p:nvPicPr>
          <p:cNvPr id="24" name="Image 5" descr="preencoded.png">    </p:cNvPr>
          <p:cNvPicPr>
            <a:picLocks noChangeAspect="1"/>
          </p:cNvPicPr>
          <p:nvPr/>
        </p:nvPicPr>
        <p:blipFill>
          <a:blip r:embed="rId6"/>
          <a:stretch>
            <a:fillRect/>
          </a:stretch>
        </p:blipFill>
        <p:spPr>
          <a:xfrm>
            <a:off x="8924544" y="3049524"/>
            <a:ext cx="256032" cy="256032"/>
          </a:xfrm>
          <a:prstGeom prst="rect">
            <a:avLst/>
          </a:prstGeom>
        </p:spPr>
      </p:pic>
      <p:sp>
        <p:nvSpPr>
          <p:cNvPr id="25" name="Shape 17"/>
          <p:cNvSpPr/>
          <p:nvPr/>
        </p:nvSpPr>
        <p:spPr>
          <a:xfrm>
            <a:off x="9244584" y="1554480"/>
            <a:ext cx="2514600" cy="3246120"/>
          </a:xfrm>
          <a:prstGeom prst="roundRect">
            <a:avLst>
              <a:gd name="adj" fmla="val 3273"/>
            </a:avLst>
          </a:prstGeom>
          <a:solidFill>
            <a:srgbClr val="11203A"/>
          </a:solidFill>
          <a:ln/>
          <a:effectLst>
            <a:outerShdw sx="100000" sy="100000" kx="0" ky="0" algn="bl" rotWithShape="0" blurRad="76200" dist="25400" dir="2700000">
              <a:srgbClr val="000000">
                <a:alpha val="10000"/>
              </a:srgbClr>
            </a:outerShdw>
          </a:effectLst>
        </p:spPr>
      </p:sp>
      <p:sp>
        <p:nvSpPr>
          <p:cNvPr id="26" name="Shape 18"/>
          <p:cNvSpPr/>
          <p:nvPr/>
        </p:nvSpPr>
        <p:spPr>
          <a:xfrm>
            <a:off x="10136124" y="1847088"/>
            <a:ext cx="731520" cy="731520"/>
          </a:xfrm>
          <a:prstGeom prst="ellipse">
            <a:avLst/>
          </a:prstGeom>
          <a:solidFill>
            <a:srgbClr val="26395F"/>
          </a:solidFill>
          <a:ln/>
        </p:spPr>
      </p:sp>
      <p:pic>
        <p:nvPicPr>
          <p:cNvPr id="27" name="Image 6" descr="preencoded.png">    </p:cNvPr>
          <p:cNvPicPr>
            <a:picLocks noChangeAspect="1"/>
          </p:cNvPicPr>
          <p:nvPr/>
        </p:nvPicPr>
        <p:blipFill>
          <a:blip r:embed="rId7"/>
          <a:stretch>
            <a:fillRect/>
          </a:stretch>
        </p:blipFill>
        <p:spPr>
          <a:xfrm>
            <a:off x="10300716" y="2011680"/>
            <a:ext cx="402336" cy="402336"/>
          </a:xfrm>
          <a:prstGeom prst="rect">
            <a:avLst/>
          </a:prstGeom>
        </p:spPr>
      </p:pic>
      <p:sp>
        <p:nvSpPr>
          <p:cNvPr id="28" name="Text 19"/>
          <p:cNvSpPr/>
          <p:nvPr/>
        </p:nvSpPr>
        <p:spPr>
          <a:xfrm>
            <a:off x="9336024" y="2743200"/>
            <a:ext cx="2331720" cy="365760"/>
          </a:xfrm>
          <a:prstGeom prst="rect">
            <a:avLst/>
          </a:prstGeom>
          <a:noFill/>
          <a:ln/>
        </p:spPr>
        <p:txBody>
          <a:bodyPr wrap="square" lIns="0" tIns="0" rIns="0" bIns="0" rtlCol="0" anchor="ctr"/>
          <a:lstStyle/>
          <a:p>
            <a:pPr algn="ctr" indent="0" marL="0">
              <a:buNone/>
            </a:pPr>
            <a:r>
              <a:rPr lang="en-US" sz="1450" b="1" dirty="0">
                <a:solidFill>
                  <a:srgbClr val="FFFFFF"/>
                </a:solidFill>
                <a:latin typeface="Cambria" pitchFamily="34" charset="0"/>
                <a:ea typeface="Cambria" pitchFamily="34" charset="-122"/>
                <a:cs typeface="Cambria" pitchFamily="34" charset="-120"/>
              </a:rPr>
              <a:t>ATS Scoring Engine</a:t>
            </a:r>
            <a:endParaRPr lang="en-US" sz="1450" dirty="0"/>
          </a:p>
        </p:txBody>
      </p:sp>
      <p:sp>
        <p:nvSpPr>
          <p:cNvPr id="29" name="Text 20"/>
          <p:cNvSpPr/>
          <p:nvPr/>
        </p:nvSpPr>
        <p:spPr>
          <a:xfrm>
            <a:off x="9336024" y="3090672"/>
            <a:ext cx="2331720" cy="274320"/>
          </a:xfrm>
          <a:prstGeom prst="rect">
            <a:avLst/>
          </a:prstGeom>
          <a:noFill/>
          <a:ln/>
        </p:spPr>
        <p:txBody>
          <a:bodyPr wrap="square" lIns="0" tIns="0" rIns="0" bIns="0" rtlCol="0" anchor="ctr"/>
          <a:lstStyle/>
          <a:p>
            <a:pPr algn="ctr" indent="0" marL="0">
              <a:buNone/>
            </a:pPr>
            <a:r>
              <a:rPr lang="en-US" sz="1050" b="1" dirty="0">
                <a:solidFill>
                  <a:srgbClr val="F59E0B"/>
                </a:solidFill>
                <a:latin typeface="Calibri" pitchFamily="34" charset="0"/>
                <a:ea typeface="Calibri" pitchFamily="34" charset="-122"/>
                <a:cs typeface="Calibri" pitchFamily="34" charset="-120"/>
              </a:rPr>
              <a:t>Python + Flask</a:t>
            </a:r>
            <a:endParaRPr lang="en-US" sz="1050" dirty="0"/>
          </a:p>
        </p:txBody>
      </p:sp>
      <p:sp>
        <p:nvSpPr>
          <p:cNvPr id="30" name="Text 21"/>
          <p:cNvSpPr/>
          <p:nvPr/>
        </p:nvSpPr>
        <p:spPr>
          <a:xfrm>
            <a:off x="9409176" y="3429000"/>
            <a:ext cx="2185416" cy="1280160"/>
          </a:xfrm>
          <a:prstGeom prst="rect">
            <a:avLst/>
          </a:prstGeom>
          <a:noFill/>
          <a:ln/>
        </p:spPr>
        <p:txBody>
          <a:bodyPr wrap="square" lIns="0" tIns="0" rIns="0" bIns="0" rtlCol="0" anchor="t"/>
          <a:lstStyle/>
          <a:p>
            <a:pPr algn="ctr" indent="0" marL="0">
              <a:lnSpc>
                <a:spcPct val="115000"/>
              </a:lnSpc>
              <a:buNone/>
            </a:pPr>
            <a:r>
              <a:rPr lang="en-US" sz="1050" dirty="0">
                <a:solidFill>
                  <a:srgbClr val="AFC0DC"/>
                </a:solidFill>
                <a:latin typeface="Calibri" pitchFamily="34" charset="0"/>
                <a:ea typeface="Calibri" pitchFamily="34" charset="-122"/>
                <a:cs typeface="Calibri" pitchFamily="34" charset="-120"/>
              </a:rPr>
              <a:t>Parses resumes, extracts skills, computes match %</a:t>
            </a:r>
            <a:endParaRPr lang="en-US" sz="1050" dirty="0"/>
          </a:p>
        </p:txBody>
      </p:sp>
      <p:sp>
        <p:nvSpPr>
          <p:cNvPr id="31" name="Text 22"/>
          <p:cNvSpPr/>
          <p:nvPr/>
        </p:nvSpPr>
        <p:spPr>
          <a:xfrm>
            <a:off x="548640" y="5074920"/>
            <a:ext cx="10058400" cy="320040"/>
          </a:xfrm>
          <a:prstGeom prst="rect">
            <a:avLst/>
          </a:prstGeom>
          <a:noFill/>
          <a:ln/>
        </p:spPr>
        <p:txBody>
          <a:bodyPr wrap="square" lIns="0" tIns="0" rIns="0" bIns="0"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Methodology: Agile, Module-by-Module Development</a:t>
            </a:r>
            <a:endParaRPr lang="en-US" sz="1250" dirty="0"/>
          </a:p>
        </p:txBody>
      </p:sp>
      <p:sp>
        <p:nvSpPr>
          <p:cNvPr id="32" name="Shape 23"/>
          <p:cNvSpPr/>
          <p:nvPr/>
        </p:nvSpPr>
        <p:spPr>
          <a:xfrm>
            <a:off x="548640" y="5486400"/>
            <a:ext cx="1810512" cy="566928"/>
          </a:xfrm>
          <a:prstGeom prst="roundRect">
            <a:avLst>
              <a:gd name="adj" fmla="val 48387"/>
            </a:avLst>
          </a:prstGeom>
          <a:solidFill>
            <a:srgbClr val="F1F5F9"/>
          </a:solidFill>
          <a:ln w="12700">
            <a:solidFill>
              <a:srgbClr val="DCE3EC"/>
            </a:solidFill>
            <a:prstDash val="solid"/>
          </a:ln>
        </p:spPr>
      </p:sp>
      <p:sp>
        <p:nvSpPr>
          <p:cNvPr id="33" name="Text 24"/>
          <p:cNvSpPr/>
          <p:nvPr/>
        </p:nvSpPr>
        <p:spPr>
          <a:xfrm>
            <a:off x="548640" y="5486400"/>
            <a:ext cx="1810512" cy="566928"/>
          </a:xfrm>
          <a:prstGeom prst="rect">
            <a:avLst/>
          </a:prstGeom>
          <a:noFill/>
          <a:ln/>
        </p:spPr>
        <p:txBody>
          <a:bodyPr wrap="square" lIns="0" tIns="0" rIns="0" bIns="0" rtlCol="0" anchor="ctr"/>
          <a:lstStyle/>
          <a:p>
            <a:pPr algn="ctr" indent="0" marL="0">
              <a:buNone/>
            </a:pPr>
            <a:r>
              <a:rPr lang="en-US" sz="1000" b="1" dirty="0">
                <a:solidFill>
                  <a:srgbClr val="0F172A"/>
                </a:solidFill>
                <a:latin typeface="Calibri" pitchFamily="34" charset="0"/>
                <a:ea typeface="Calibri" pitchFamily="34" charset="-122"/>
                <a:cs typeface="Calibri" pitchFamily="34" charset="-120"/>
              </a:rPr>
              <a:t>Requirement Analysis</a:t>
            </a:r>
            <a:endParaRPr lang="en-US" sz="1000" dirty="0"/>
          </a:p>
        </p:txBody>
      </p:sp>
      <p:sp>
        <p:nvSpPr>
          <p:cNvPr id="34" name="Shape 25"/>
          <p:cNvSpPr/>
          <p:nvPr/>
        </p:nvSpPr>
        <p:spPr>
          <a:xfrm>
            <a:off x="2633472" y="5486400"/>
            <a:ext cx="1810512" cy="566928"/>
          </a:xfrm>
          <a:prstGeom prst="roundRect">
            <a:avLst>
              <a:gd name="adj" fmla="val 48387"/>
            </a:avLst>
          </a:prstGeom>
          <a:solidFill>
            <a:srgbClr val="F1F5F9"/>
          </a:solidFill>
          <a:ln w="12700">
            <a:solidFill>
              <a:srgbClr val="DCE3EC"/>
            </a:solidFill>
            <a:prstDash val="solid"/>
          </a:ln>
        </p:spPr>
      </p:sp>
      <p:sp>
        <p:nvSpPr>
          <p:cNvPr id="35" name="Text 26"/>
          <p:cNvSpPr/>
          <p:nvPr/>
        </p:nvSpPr>
        <p:spPr>
          <a:xfrm>
            <a:off x="2633472" y="5486400"/>
            <a:ext cx="1810512" cy="566928"/>
          </a:xfrm>
          <a:prstGeom prst="rect">
            <a:avLst/>
          </a:prstGeom>
          <a:noFill/>
          <a:ln/>
        </p:spPr>
        <p:txBody>
          <a:bodyPr wrap="square" lIns="0" tIns="0" rIns="0" bIns="0" rtlCol="0" anchor="ctr"/>
          <a:lstStyle/>
          <a:p>
            <a:pPr algn="ctr" indent="0" marL="0">
              <a:buNone/>
            </a:pPr>
            <a:r>
              <a:rPr lang="en-US" sz="1000" b="1" dirty="0">
                <a:solidFill>
                  <a:srgbClr val="0F172A"/>
                </a:solidFill>
                <a:latin typeface="Calibri" pitchFamily="34" charset="0"/>
                <a:ea typeface="Calibri" pitchFamily="34" charset="-122"/>
                <a:cs typeface="Calibri" pitchFamily="34" charset="-120"/>
              </a:rPr>
              <a:t>DB Schema Design</a:t>
            </a:r>
            <a:endParaRPr lang="en-US" sz="1000" dirty="0"/>
          </a:p>
        </p:txBody>
      </p:sp>
      <p:sp>
        <p:nvSpPr>
          <p:cNvPr id="36" name="Shape 27"/>
          <p:cNvSpPr/>
          <p:nvPr/>
        </p:nvSpPr>
        <p:spPr>
          <a:xfrm>
            <a:off x="4718304" y="5486400"/>
            <a:ext cx="1810512" cy="566928"/>
          </a:xfrm>
          <a:prstGeom prst="roundRect">
            <a:avLst>
              <a:gd name="adj" fmla="val 48387"/>
            </a:avLst>
          </a:prstGeom>
          <a:solidFill>
            <a:srgbClr val="F1F5F9"/>
          </a:solidFill>
          <a:ln w="12700">
            <a:solidFill>
              <a:srgbClr val="DCE3EC"/>
            </a:solidFill>
            <a:prstDash val="solid"/>
          </a:ln>
        </p:spPr>
      </p:sp>
      <p:sp>
        <p:nvSpPr>
          <p:cNvPr id="37" name="Text 28"/>
          <p:cNvSpPr/>
          <p:nvPr/>
        </p:nvSpPr>
        <p:spPr>
          <a:xfrm>
            <a:off x="4718304" y="5486400"/>
            <a:ext cx="1810512" cy="566928"/>
          </a:xfrm>
          <a:prstGeom prst="rect">
            <a:avLst/>
          </a:prstGeom>
          <a:noFill/>
          <a:ln/>
        </p:spPr>
        <p:txBody>
          <a:bodyPr wrap="square" lIns="0" tIns="0" rIns="0" bIns="0" rtlCol="0" anchor="ctr"/>
          <a:lstStyle/>
          <a:p>
            <a:pPr algn="ctr" indent="0" marL="0">
              <a:buNone/>
            </a:pPr>
            <a:r>
              <a:rPr lang="en-US" sz="1000" b="1" dirty="0">
                <a:solidFill>
                  <a:srgbClr val="0F172A"/>
                </a:solidFill>
                <a:latin typeface="Calibri" pitchFamily="34" charset="0"/>
                <a:ea typeface="Calibri" pitchFamily="34" charset="-122"/>
                <a:cs typeface="Calibri" pitchFamily="34" charset="-120"/>
              </a:rPr>
              <a:t>API Development</a:t>
            </a:r>
            <a:endParaRPr lang="en-US" sz="1000" dirty="0"/>
          </a:p>
        </p:txBody>
      </p:sp>
      <p:sp>
        <p:nvSpPr>
          <p:cNvPr id="38" name="Shape 29"/>
          <p:cNvSpPr/>
          <p:nvPr/>
        </p:nvSpPr>
        <p:spPr>
          <a:xfrm>
            <a:off x="6803136" y="5486400"/>
            <a:ext cx="1810512" cy="566928"/>
          </a:xfrm>
          <a:prstGeom prst="roundRect">
            <a:avLst>
              <a:gd name="adj" fmla="val 48387"/>
            </a:avLst>
          </a:prstGeom>
          <a:solidFill>
            <a:srgbClr val="F1F5F9"/>
          </a:solidFill>
          <a:ln w="12700">
            <a:solidFill>
              <a:srgbClr val="DCE3EC"/>
            </a:solidFill>
            <a:prstDash val="solid"/>
          </a:ln>
        </p:spPr>
      </p:sp>
      <p:sp>
        <p:nvSpPr>
          <p:cNvPr id="39" name="Text 30"/>
          <p:cNvSpPr/>
          <p:nvPr/>
        </p:nvSpPr>
        <p:spPr>
          <a:xfrm>
            <a:off x="6803136" y="5486400"/>
            <a:ext cx="1810512" cy="566928"/>
          </a:xfrm>
          <a:prstGeom prst="rect">
            <a:avLst/>
          </a:prstGeom>
          <a:noFill/>
          <a:ln/>
        </p:spPr>
        <p:txBody>
          <a:bodyPr wrap="square" lIns="0" tIns="0" rIns="0" bIns="0" rtlCol="0" anchor="ctr"/>
          <a:lstStyle/>
          <a:p>
            <a:pPr algn="ctr" indent="0" marL="0">
              <a:buNone/>
            </a:pPr>
            <a:r>
              <a:rPr lang="en-US" sz="1000" b="1" dirty="0">
                <a:solidFill>
                  <a:srgbClr val="0F172A"/>
                </a:solidFill>
                <a:latin typeface="Calibri" pitchFamily="34" charset="0"/>
                <a:ea typeface="Calibri" pitchFamily="34" charset="-122"/>
                <a:cs typeface="Calibri" pitchFamily="34" charset="-120"/>
              </a:rPr>
              <a:t>Frontend Integration</a:t>
            </a:r>
            <a:endParaRPr lang="en-US" sz="1000" dirty="0"/>
          </a:p>
        </p:txBody>
      </p:sp>
      <p:sp>
        <p:nvSpPr>
          <p:cNvPr id="40" name="Shape 31"/>
          <p:cNvSpPr/>
          <p:nvPr/>
        </p:nvSpPr>
        <p:spPr>
          <a:xfrm>
            <a:off x="8887968" y="5486400"/>
            <a:ext cx="1810512" cy="566928"/>
          </a:xfrm>
          <a:prstGeom prst="roundRect">
            <a:avLst>
              <a:gd name="adj" fmla="val 48387"/>
            </a:avLst>
          </a:prstGeom>
          <a:solidFill>
            <a:srgbClr val="F1F5F9"/>
          </a:solidFill>
          <a:ln w="12700">
            <a:solidFill>
              <a:srgbClr val="DCE3EC"/>
            </a:solidFill>
            <a:prstDash val="solid"/>
          </a:ln>
        </p:spPr>
      </p:sp>
      <p:sp>
        <p:nvSpPr>
          <p:cNvPr id="41" name="Text 32"/>
          <p:cNvSpPr/>
          <p:nvPr/>
        </p:nvSpPr>
        <p:spPr>
          <a:xfrm>
            <a:off x="8887968" y="5486400"/>
            <a:ext cx="1810512" cy="566928"/>
          </a:xfrm>
          <a:prstGeom prst="rect">
            <a:avLst/>
          </a:prstGeom>
          <a:noFill/>
          <a:ln/>
        </p:spPr>
        <p:txBody>
          <a:bodyPr wrap="square" lIns="0" tIns="0" rIns="0" bIns="0" rtlCol="0" anchor="ctr"/>
          <a:lstStyle/>
          <a:p>
            <a:pPr algn="ctr" indent="0" marL="0">
              <a:buNone/>
            </a:pPr>
            <a:r>
              <a:rPr lang="en-US" sz="1000" b="1" dirty="0">
                <a:solidFill>
                  <a:srgbClr val="0F172A"/>
                </a:solidFill>
                <a:latin typeface="Calibri" pitchFamily="34" charset="0"/>
                <a:ea typeface="Calibri" pitchFamily="34" charset="-122"/>
                <a:cs typeface="Calibri" pitchFamily="34" charset="-120"/>
              </a:rPr>
              <a:t>AI Module + Testing</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548640"/>
          </a:xfrm>
          <a:prstGeom prst="rect">
            <a:avLst/>
          </a:prstGeom>
          <a:noFill/>
          <a:ln/>
        </p:spPr>
        <p:txBody>
          <a:bodyPr wrap="square" lIns="0" tIns="0" rIns="0" bIns="0" rtlCol="0" anchor="ctr"/>
          <a:lstStyle/>
          <a:p>
            <a:pPr indent="0" marL="0">
              <a:buNone/>
            </a:pPr>
            <a:r>
              <a:rPr lang="en-US" sz="3000" b="1" dirty="0">
                <a:solidFill>
                  <a:srgbClr val="0F172A"/>
                </a:solidFill>
                <a:latin typeface="Cambria" pitchFamily="34" charset="0"/>
                <a:ea typeface="Cambria" pitchFamily="34" charset="-122"/>
                <a:cs typeface="Cambria" pitchFamily="34" charset="-120"/>
              </a:rPr>
              <a:t>Implementation &amp; Results</a:t>
            </a:r>
            <a:endParaRPr lang="en-US" sz="3000" dirty="0"/>
          </a:p>
        </p:txBody>
      </p:sp>
      <p:sp>
        <p:nvSpPr>
          <p:cNvPr id="3" name="Text 1"/>
          <p:cNvSpPr/>
          <p:nvPr/>
        </p:nvSpPr>
        <p:spPr>
          <a:xfrm>
            <a:off x="548640" y="914400"/>
            <a:ext cx="10058400" cy="365760"/>
          </a:xfrm>
          <a:prstGeom prst="rect">
            <a:avLst/>
          </a:prstGeom>
          <a:noFill/>
          <a:ln/>
        </p:spPr>
        <p:txBody>
          <a:bodyPr wrap="square" lIns="0" tIns="0" rIns="0" bIns="0" rtlCol="0" anchor="ctr"/>
          <a:lstStyle/>
          <a:p>
            <a:pPr indent="0" marL="0">
              <a:buNone/>
            </a:pPr>
            <a:r>
              <a:rPr lang="en-US" sz="1350" i="1" dirty="0">
                <a:solidFill>
                  <a:srgbClr val="475569"/>
                </a:solidFill>
                <a:latin typeface="Calibri" pitchFamily="34" charset="0"/>
                <a:ea typeface="Calibri" pitchFamily="34" charset="-122"/>
                <a:cs typeface="Calibri" pitchFamily="34" charset="-120"/>
              </a:rPr>
              <a:t>Core features delivered across recruiter and candidate experiences</a:t>
            </a:r>
            <a:endParaRPr lang="en-US" sz="1350" dirty="0"/>
          </a:p>
        </p:txBody>
      </p:sp>
      <p:sp>
        <p:nvSpPr>
          <p:cNvPr id="4" name="Shape 2"/>
          <p:cNvSpPr/>
          <p:nvPr/>
        </p:nvSpPr>
        <p:spPr>
          <a:xfrm>
            <a:off x="548640" y="1463040"/>
            <a:ext cx="3456432" cy="1627632"/>
          </a:xfrm>
          <a:prstGeom prst="roundRect">
            <a:avLst>
              <a:gd name="adj" fmla="val 4494"/>
            </a:avLst>
          </a:prstGeom>
          <a:solidFill>
            <a:srgbClr val="F1F5F9"/>
          </a:solidFill>
          <a:ln/>
          <a:effectLst>
            <a:outerShdw sx="100000" sy="100000" kx="0" ky="0" algn="bl" rotWithShape="0" blurRad="76200" dist="25400" dir="2700000">
              <a:srgbClr val="000000">
                <a:alpha val="7000"/>
              </a:srgbClr>
            </a:outerShdw>
          </a:effectLst>
        </p:spPr>
      </p:sp>
      <p:sp>
        <p:nvSpPr>
          <p:cNvPr id="5" name="Shape 3"/>
          <p:cNvSpPr/>
          <p:nvPr/>
        </p:nvSpPr>
        <p:spPr>
          <a:xfrm>
            <a:off x="749808" y="1664208"/>
            <a:ext cx="502920" cy="502920"/>
          </a:xfrm>
          <a:prstGeom prst="ellipse">
            <a:avLst/>
          </a:prstGeom>
          <a:solidFill>
            <a:srgbClr val="FFFFFF"/>
          </a:solidFill>
          <a:ln/>
        </p:spPr>
      </p:sp>
      <p:pic>
        <p:nvPicPr>
          <p:cNvPr id="6" name="Image 0" descr="preencoded.png">    </p:cNvPr>
          <p:cNvPicPr>
            <a:picLocks noChangeAspect="1"/>
          </p:cNvPicPr>
          <p:nvPr/>
        </p:nvPicPr>
        <p:blipFill>
          <a:blip r:embed="rId1"/>
          <a:stretch>
            <a:fillRect/>
          </a:stretch>
        </p:blipFill>
        <p:spPr>
          <a:xfrm>
            <a:off x="864108" y="1778508"/>
            <a:ext cx="274320" cy="274320"/>
          </a:xfrm>
          <a:prstGeom prst="rect">
            <a:avLst/>
          </a:prstGeom>
        </p:spPr>
      </p:pic>
      <p:sp>
        <p:nvSpPr>
          <p:cNvPr id="7" name="Text 4"/>
          <p:cNvSpPr/>
          <p:nvPr/>
        </p:nvSpPr>
        <p:spPr>
          <a:xfrm>
            <a:off x="749808" y="2240280"/>
            <a:ext cx="3090672" cy="365760"/>
          </a:xfrm>
          <a:prstGeom prst="rect">
            <a:avLst/>
          </a:prstGeom>
          <a:noFill/>
          <a:ln/>
        </p:spPr>
        <p:txBody>
          <a:bodyPr wrap="square" lIns="0" tIns="0" rIns="0" bIns="0" rtlCol="0" anchor="ctr"/>
          <a:lstStyle/>
          <a:p>
            <a:pPr indent="0" marL="0">
              <a:buNone/>
            </a:pPr>
            <a:r>
              <a:rPr lang="en-US" sz="1400" b="1" dirty="0">
                <a:solidFill>
                  <a:srgbClr val="0F172A"/>
                </a:solidFill>
                <a:latin typeface="Cambria" pitchFamily="34" charset="0"/>
                <a:ea typeface="Cambria" pitchFamily="34" charset="-122"/>
                <a:cs typeface="Cambria" pitchFamily="34" charset="-120"/>
              </a:rPr>
              <a:t>Recruiter Dashboard</a:t>
            </a:r>
            <a:endParaRPr lang="en-US" sz="1400" dirty="0"/>
          </a:p>
        </p:txBody>
      </p:sp>
      <p:sp>
        <p:nvSpPr>
          <p:cNvPr id="8" name="Text 5"/>
          <p:cNvSpPr/>
          <p:nvPr/>
        </p:nvSpPr>
        <p:spPr>
          <a:xfrm>
            <a:off x="749808" y="2606040"/>
            <a:ext cx="3090672" cy="640080"/>
          </a:xfrm>
          <a:prstGeom prst="rect">
            <a:avLst/>
          </a:prstGeom>
          <a:noFill/>
          <a:ln/>
        </p:spPr>
        <p:txBody>
          <a:bodyPr wrap="square" lIns="0" tIns="0" rIns="0" bIns="0" rtlCol="0" anchor="ctr"/>
          <a:lstStyle/>
          <a:p>
            <a:pPr indent="0" marL="0">
              <a:lnSpc>
                <a:spcPct val="112000"/>
              </a:lnSpc>
              <a:buNone/>
            </a:pPr>
            <a:r>
              <a:rPr lang="en-US" sz="1080" dirty="0">
                <a:solidFill>
                  <a:srgbClr val="475569"/>
                </a:solidFill>
                <a:latin typeface="Calibri" pitchFamily="34" charset="0"/>
                <a:ea typeface="Calibri" pitchFamily="34" charset="-122"/>
                <a:cs typeface="Calibri" pitchFamily="34" charset="-120"/>
              </a:rPr>
              <a:t>Post jobs, manage listings, and review all applicants in one place</a:t>
            </a:r>
            <a:endParaRPr lang="en-US" sz="1080" dirty="0"/>
          </a:p>
        </p:txBody>
      </p:sp>
      <p:sp>
        <p:nvSpPr>
          <p:cNvPr id="9" name="Shape 6"/>
          <p:cNvSpPr/>
          <p:nvPr/>
        </p:nvSpPr>
        <p:spPr>
          <a:xfrm>
            <a:off x="4261104" y="1463040"/>
            <a:ext cx="3456432" cy="1627632"/>
          </a:xfrm>
          <a:prstGeom prst="roundRect">
            <a:avLst>
              <a:gd name="adj" fmla="val 4494"/>
            </a:avLst>
          </a:prstGeom>
          <a:solidFill>
            <a:srgbClr val="F1F5F9"/>
          </a:solidFill>
          <a:ln/>
          <a:effectLst>
            <a:outerShdw sx="100000" sy="100000" kx="0" ky="0" algn="bl" rotWithShape="0" blurRad="76200" dist="25400" dir="2700000">
              <a:srgbClr val="000000">
                <a:alpha val="7000"/>
              </a:srgbClr>
            </a:outerShdw>
          </a:effectLst>
        </p:spPr>
      </p:sp>
      <p:sp>
        <p:nvSpPr>
          <p:cNvPr id="10" name="Shape 7"/>
          <p:cNvSpPr/>
          <p:nvPr/>
        </p:nvSpPr>
        <p:spPr>
          <a:xfrm>
            <a:off x="4462272" y="1664208"/>
            <a:ext cx="502920" cy="502920"/>
          </a:xfrm>
          <a:prstGeom prst="ellipse">
            <a:avLst/>
          </a:prstGeom>
          <a:solidFill>
            <a:srgbClr val="FFFFFF"/>
          </a:solidFill>
          <a:ln/>
        </p:spPr>
      </p:sp>
      <p:pic>
        <p:nvPicPr>
          <p:cNvPr id="11" name="Image 1" descr="preencoded.png">    </p:cNvPr>
          <p:cNvPicPr>
            <a:picLocks noChangeAspect="1"/>
          </p:cNvPicPr>
          <p:nvPr/>
        </p:nvPicPr>
        <p:blipFill>
          <a:blip r:embed="rId2"/>
          <a:stretch>
            <a:fillRect/>
          </a:stretch>
        </p:blipFill>
        <p:spPr>
          <a:xfrm>
            <a:off x="4576572" y="1778508"/>
            <a:ext cx="274320" cy="274320"/>
          </a:xfrm>
          <a:prstGeom prst="rect">
            <a:avLst/>
          </a:prstGeom>
        </p:spPr>
      </p:pic>
      <p:sp>
        <p:nvSpPr>
          <p:cNvPr id="12" name="Text 8"/>
          <p:cNvSpPr/>
          <p:nvPr/>
        </p:nvSpPr>
        <p:spPr>
          <a:xfrm>
            <a:off x="4462272" y="2240280"/>
            <a:ext cx="3090672" cy="365760"/>
          </a:xfrm>
          <a:prstGeom prst="rect">
            <a:avLst/>
          </a:prstGeom>
          <a:noFill/>
          <a:ln/>
        </p:spPr>
        <p:txBody>
          <a:bodyPr wrap="square" lIns="0" tIns="0" rIns="0" bIns="0" rtlCol="0" anchor="ctr"/>
          <a:lstStyle/>
          <a:p>
            <a:pPr indent="0" marL="0">
              <a:buNone/>
            </a:pPr>
            <a:r>
              <a:rPr lang="en-US" sz="1400" b="1" dirty="0">
                <a:solidFill>
                  <a:srgbClr val="0F172A"/>
                </a:solidFill>
                <a:latin typeface="Cambria" pitchFamily="34" charset="0"/>
                <a:ea typeface="Cambria" pitchFamily="34" charset="-122"/>
                <a:cs typeface="Cambria" pitchFamily="34" charset="-120"/>
              </a:rPr>
              <a:t>Job Search</a:t>
            </a:r>
            <a:endParaRPr lang="en-US" sz="1400" dirty="0"/>
          </a:p>
        </p:txBody>
      </p:sp>
      <p:sp>
        <p:nvSpPr>
          <p:cNvPr id="13" name="Text 9"/>
          <p:cNvSpPr/>
          <p:nvPr/>
        </p:nvSpPr>
        <p:spPr>
          <a:xfrm>
            <a:off x="4462272" y="2606040"/>
            <a:ext cx="3090672" cy="640080"/>
          </a:xfrm>
          <a:prstGeom prst="rect">
            <a:avLst/>
          </a:prstGeom>
          <a:noFill/>
          <a:ln/>
        </p:spPr>
        <p:txBody>
          <a:bodyPr wrap="square" lIns="0" tIns="0" rIns="0" bIns="0" rtlCol="0" anchor="ctr"/>
          <a:lstStyle/>
          <a:p>
            <a:pPr indent="0" marL="0">
              <a:lnSpc>
                <a:spcPct val="112000"/>
              </a:lnSpc>
              <a:buNone/>
            </a:pPr>
            <a:r>
              <a:rPr lang="en-US" sz="1080" dirty="0">
                <a:solidFill>
                  <a:srgbClr val="475569"/>
                </a:solidFill>
                <a:latin typeface="Calibri" pitchFamily="34" charset="0"/>
                <a:ea typeface="Calibri" pitchFamily="34" charset="-122"/>
                <a:cs typeface="Calibri" pitchFamily="34" charset="-120"/>
              </a:rPr>
              <a:t>Candidates filter and search live job postings by role, skill, or location</a:t>
            </a:r>
            <a:endParaRPr lang="en-US" sz="1080" dirty="0"/>
          </a:p>
        </p:txBody>
      </p:sp>
      <p:sp>
        <p:nvSpPr>
          <p:cNvPr id="14" name="Shape 10"/>
          <p:cNvSpPr/>
          <p:nvPr/>
        </p:nvSpPr>
        <p:spPr>
          <a:xfrm>
            <a:off x="7973568" y="1463040"/>
            <a:ext cx="3456432" cy="1627632"/>
          </a:xfrm>
          <a:prstGeom prst="roundRect">
            <a:avLst>
              <a:gd name="adj" fmla="val 4494"/>
            </a:avLst>
          </a:prstGeom>
          <a:solidFill>
            <a:srgbClr val="F1F5F9"/>
          </a:solidFill>
          <a:ln/>
          <a:effectLst>
            <a:outerShdw sx="100000" sy="100000" kx="0" ky="0" algn="bl" rotWithShape="0" blurRad="76200" dist="25400" dir="2700000">
              <a:srgbClr val="000000">
                <a:alpha val="7000"/>
              </a:srgbClr>
            </a:outerShdw>
          </a:effectLst>
        </p:spPr>
      </p:sp>
      <p:sp>
        <p:nvSpPr>
          <p:cNvPr id="15" name="Shape 11"/>
          <p:cNvSpPr/>
          <p:nvPr/>
        </p:nvSpPr>
        <p:spPr>
          <a:xfrm>
            <a:off x="8174736" y="1664208"/>
            <a:ext cx="502920" cy="502920"/>
          </a:xfrm>
          <a:prstGeom prst="ellipse">
            <a:avLst/>
          </a:prstGeom>
          <a:solidFill>
            <a:srgbClr val="FFFFFF"/>
          </a:solidFill>
          <a:ln/>
        </p:spPr>
      </p:sp>
      <p:pic>
        <p:nvPicPr>
          <p:cNvPr id="16" name="Image 2" descr="preencoded.png">    </p:cNvPr>
          <p:cNvPicPr>
            <a:picLocks noChangeAspect="1"/>
          </p:cNvPicPr>
          <p:nvPr/>
        </p:nvPicPr>
        <p:blipFill>
          <a:blip r:embed="rId3"/>
          <a:stretch>
            <a:fillRect/>
          </a:stretch>
        </p:blipFill>
        <p:spPr>
          <a:xfrm>
            <a:off x="8289036" y="1778508"/>
            <a:ext cx="274320" cy="274320"/>
          </a:xfrm>
          <a:prstGeom prst="rect">
            <a:avLst/>
          </a:prstGeom>
        </p:spPr>
      </p:pic>
      <p:sp>
        <p:nvSpPr>
          <p:cNvPr id="17" name="Text 12"/>
          <p:cNvSpPr/>
          <p:nvPr/>
        </p:nvSpPr>
        <p:spPr>
          <a:xfrm>
            <a:off x="8174736" y="2240280"/>
            <a:ext cx="3090672" cy="365760"/>
          </a:xfrm>
          <a:prstGeom prst="rect">
            <a:avLst/>
          </a:prstGeom>
          <a:noFill/>
          <a:ln/>
        </p:spPr>
        <p:txBody>
          <a:bodyPr wrap="square" lIns="0" tIns="0" rIns="0" bIns="0" rtlCol="0" anchor="ctr"/>
          <a:lstStyle/>
          <a:p>
            <a:pPr indent="0" marL="0">
              <a:buNone/>
            </a:pPr>
            <a:r>
              <a:rPr lang="en-US" sz="1400" b="1" dirty="0">
                <a:solidFill>
                  <a:srgbClr val="0F172A"/>
                </a:solidFill>
                <a:latin typeface="Cambria" pitchFamily="34" charset="0"/>
                <a:ea typeface="Cambria" pitchFamily="34" charset="-122"/>
                <a:cs typeface="Cambria" pitchFamily="34" charset="-120"/>
              </a:rPr>
              <a:t>Resume Upload</a:t>
            </a:r>
            <a:endParaRPr lang="en-US" sz="1400" dirty="0"/>
          </a:p>
        </p:txBody>
      </p:sp>
      <p:sp>
        <p:nvSpPr>
          <p:cNvPr id="18" name="Text 13"/>
          <p:cNvSpPr/>
          <p:nvPr/>
        </p:nvSpPr>
        <p:spPr>
          <a:xfrm>
            <a:off x="8174736" y="2606040"/>
            <a:ext cx="3090672" cy="640080"/>
          </a:xfrm>
          <a:prstGeom prst="rect">
            <a:avLst/>
          </a:prstGeom>
          <a:noFill/>
          <a:ln/>
        </p:spPr>
        <p:txBody>
          <a:bodyPr wrap="square" lIns="0" tIns="0" rIns="0" bIns="0" rtlCol="0" anchor="ctr"/>
          <a:lstStyle/>
          <a:p>
            <a:pPr indent="0" marL="0">
              <a:lnSpc>
                <a:spcPct val="112000"/>
              </a:lnSpc>
              <a:buNone/>
            </a:pPr>
            <a:r>
              <a:rPr lang="en-US" sz="1080" dirty="0">
                <a:solidFill>
                  <a:srgbClr val="475569"/>
                </a:solidFill>
                <a:latin typeface="Calibri" pitchFamily="34" charset="0"/>
                <a:ea typeface="Calibri" pitchFamily="34" charset="-122"/>
                <a:cs typeface="Calibri" pitchFamily="34" charset="-120"/>
              </a:rPr>
              <a:t>Secure PDF upload, parsed automatically for skill extraction</a:t>
            </a:r>
            <a:endParaRPr lang="en-US" sz="1080" dirty="0"/>
          </a:p>
        </p:txBody>
      </p:sp>
      <p:sp>
        <p:nvSpPr>
          <p:cNvPr id="19" name="Shape 14"/>
          <p:cNvSpPr/>
          <p:nvPr/>
        </p:nvSpPr>
        <p:spPr>
          <a:xfrm>
            <a:off x="548640" y="3346704"/>
            <a:ext cx="3456432" cy="1627632"/>
          </a:xfrm>
          <a:prstGeom prst="roundRect">
            <a:avLst>
              <a:gd name="adj" fmla="val 4494"/>
            </a:avLst>
          </a:prstGeom>
          <a:solidFill>
            <a:srgbClr val="F1F5F9"/>
          </a:solidFill>
          <a:ln/>
          <a:effectLst>
            <a:outerShdw sx="100000" sy="100000" kx="0" ky="0" algn="bl" rotWithShape="0" blurRad="76200" dist="25400" dir="2700000">
              <a:srgbClr val="000000">
                <a:alpha val="7000"/>
              </a:srgbClr>
            </a:outerShdw>
          </a:effectLst>
        </p:spPr>
      </p:sp>
      <p:sp>
        <p:nvSpPr>
          <p:cNvPr id="20" name="Shape 15"/>
          <p:cNvSpPr/>
          <p:nvPr/>
        </p:nvSpPr>
        <p:spPr>
          <a:xfrm>
            <a:off x="749808" y="3547872"/>
            <a:ext cx="502920" cy="502920"/>
          </a:xfrm>
          <a:prstGeom prst="ellipse">
            <a:avLst/>
          </a:prstGeom>
          <a:solidFill>
            <a:srgbClr val="FFFFFF"/>
          </a:solidFill>
          <a:ln/>
        </p:spPr>
      </p:sp>
      <p:pic>
        <p:nvPicPr>
          <p:cNvPr id="21" name="Image 3" descr="preencoded.png">    </p:cNvPr>
          <p:cNvPicPr>
            <a:picLocks noChangeAspect="1"/>
          </p:cNvPicPr>
          <p:nvPr/>
        </p:nvPicPr>
        <p:blipFill>
          <a:blip r:embed="rId4"/>
          <a:stretch>
            <a:fillRect/>
          </a:stretch>
        </p:blipFill>
        <p:spPr>
          <a:xfrm>
            <a:off x="864108" y="3662172"/>
            <a:ext cx="274320" cy="274320"/>
          </a:xfrm>
          <a:prstGeom prst="rect">
            <a:avLst/>
          </a:prstGeom>
        </p:spPr>
      </p:pic>
      <p:sp>
        <p:nvSpPr>
          <p:cNvPr id="22" name="Text 16"/>
          <p:cNvSpPr/>
          <p:nvPr/>
        </p:nvSpPr>
        <p:spPr>
          <a:xfrm>
            <a:off x="749808" y="4123944"/>
            <a:ext cx="3090672" cy="365760"/>
          </a:xfrm>
          <a:prstGeom prst="rect">
            <a:avLst/>
          </a:prstGeom>
          <a:noFill/>
          <a:ln/>
        </p:spPr>
        <p:txBody>
          <a:bodyPr wrap="square" lIns="0" tIns="0" rIns="0" bIns="0" rtlCol="0" anchor="ctr"/>
          <a:lstStyle/>
          <a:p>
            <a:pPr indent="0" marL="0">
              <a:buNone/>
            </a:pPr>
            <a:r>
              <a:rPr lang="en-US" sz="1400" b="1" dirty="0">
                <a:solidFill>
                  <a:srgbClr val="0F172A"/>
                </a:solidFill>
                <a:latin typeface="Cambria" pitchFamily="34" charset="0"/>
                <a:ea typeface="Cambria" pitchFamily="34" charset="-122"/>
                <a:cs typeface="Cambria" pitchFamily="34" charset="-120"/>
              </a:rPr>
              <a:t>ATS Resume Scoring</a:t>
            </a:r>
            <a:endParaRPr lang="en-US" sz="1400" dirty="0"/>
          </a:p>
        </p:txBody>
      </p:sp>
      <p:sp>
        <p:nvSpPr>
          <p:cNvPr id="23" name="Text 17"/>
          <p:cNvSpPr/>
          <p:nvPr/>
        </p:nvSpPr>
        <p:spPr>
          <a:xfrm>
            <a:off x="749808" y="4489704"/>
            <a:ext cx="3090672" cy="640080"/>
          </a:xfrm>
          <a:prstGeom prst="rect">
            <a:avLst/>
          </a:prstGeom>
          <a:noFill/>
          <a:ln/>
        </p:spPr>
        <p:txBody>
          <a:bodyPr wrap="square" lIns="0" tIns="0" rIns="0" bIns="0" rtlCol="0" anchor="ctr"/>
          <a:lstStyle/>
          <a:p>
            <a:pPr indent="0" marL="0">
              <a:lnSpc>
                <a:spcPct val="112000"/>
              </a:lnSpc>
              <a:buNone/>
            </a:pPr>
            <a:r>
              <a:rPr lang="en-US" sz="1080" dirty="0">
                <a:solidFill>
                  <a:srgbClr val="475569"/>
                </a:solidFill>
                <a:latin typeface="Calibri" pitchFamily="34" charset="0"/>
                <a:ea typeface="Calibri" pitchFamily="34" charset="-122"/>
                <a:cs typeface="Calibri" pitchFamily="34" charset="-120"/>
              </a:rPr>
              <a:t>AI computes a 0–100% match score between resume and job description</a:t>
            </a:r>
            <a:endParaRPr lang="en-US" sz="1080" dirty="0"/>
          </a:p>
        </p:txBody>
      </p:sp>
      <p:sp>
        <p:nvSpPr>
          <p:cNvPr id="24" name="Shape 18"/>
          <p:cNvSpPr/>
          <p:nvPr/>
        </p:nvSpPr>
        <p:spPr>
          <a:xfrm>
            <a:off x="4261104" y="3346704"/>
            <a:ext cx="3456432" cy="1627632"/>
          </a:xfrm>
          <a:prstGeom prst="roundRect">
            <a:avLst>
              <a:gd name="adj" fmla="val 4494"/>
            </a:avLst>
          </a:prstGeom>
          <a:solidFill>
            <a:srgbClr val="F1F5F9"/>
          </a:solidFill>
          <a:ln/>
          <a:effectLst>
            <a:outerShdw sx="100000" sy="100000" kx="0" ky="0" algn="bl" rotWithShape="0" blurRad="76200" dist="25400" dir="2700000">
              <a:srgbClr val="000000">
                <a:alpha val="7000"/>
              </a:srgbClr>
            </a:outerShdw>
          </a:effectLst>
        </p:spPr>
      </p:sp>
      <p:sp>
        <p:nvSpPr>
          <p:cNvPr id="25" name="Shape 19"/>
          <p:cNvSpPr/>
          <p:nvPr/>
        </p:nvSpPr>
        <p:spPr>
          <a:xfrm>
            <a:off x="4462272" y="3547872"/>
            <a:ext cx="502920" cy="502920"/>
          </a:xfrm>
          <a:prstGeom prst="ellipse">
            <a:avLst/>
          </a:prstGeom>
          <a:solidFill>
            <a:srgbClr val="FFFFFF"/>
          </a:solidFill>
          <a:ln/>
        </p:spPr>
      </p:sp>
      <p:pic>
        <p:nvPicPr>
          <p:cNvPr id="26" name="Image 4" descr="preencoded.png">    </p:cNvPr>
          <p:cNvPicPr>
            <a:picLocks noChangeAspect="1"/>
          </p:cNvPicPr>
          <p:nvPr/>
        </p:nvPicPr>
        <p:blipFill>
          <a:blip r:embed="rId5"/>
          <a:stretch>
            <a:fillRect/>
          </a:stretch>
        </p:blipFill>
        <p:spPr>
          <a:xfrm>
            <a:off x="4576572" y="3662172"/>
            <a:ext cx="274320" cy="274320"/>
          </a:xfrm>
          <a:prstGeom prst="rect">
            <a:avLst/>
          </a:prstGeom>
        </p:spPr>
      </p:pic>
      <p:sp>
        <p:nvSpPr>
          <p:cNvPr id="27" name="Text 20"/>
          <p:cNvSpPr/>
          <p:nvPr/>
        </p:nvSpPr>
        <p:spPr>
          <a:xfrm>
            <a:off x="4462272" y="4123944"/>
            <a:ext cx="3090672" cy="365760"/>
          </a:xfrm>
          <a:prstGeom prst="rect">
            <a:avLst/>
          </a:prstGeom>
          <a:noFill/>
          <a:ln/>
        </p:spPr>
        <p:txBody>
          <a:bodyPr wrap="square" lIns="0" tIns="0" rIns="0" bIns="0" rtlCol="0" anchor="ctr"/>
          <a:lstStyle/>
          <a:p>
            <a:pPr indent="0" marL="0">
              <a:buNone/>
            </a:pPr>
            <a:r>
              <a:rPr lang="en-US" sz="1400" b="1" dirty="0">
                <a:solidFill>
                  <a:srgbClr val="0F172A"/>
                </a:solidFill>
                <a:latin typeface="Cambria" pitchFamily="34" charset="0"/>
                <a:ea typeface="Cambria" pitchFamily="34" charset="-122"/>
                <a:cs typeface="Cambria" pitchFamily="34" charset="-120"/>
              </a:rPr>
              <a:t>Application Tracking</a:t>
            </a:r>
            <a:endParaRPr lang="en-US" sz="1400" dirty="0"/>
          </a:p>
        </p:txBody>
      </p:sp>
      <p:sp>
        <p:nvSpPr>
          <p:cNvPr id="28" name="Text 21"/>
          <p:cNvSpPr/>
          <p:nvPr/>
        </p:nvSpPr>
        <p:spPr>
          <a:xfrm>
            <a:off x="4462272" y="4489704"/>
            <a:ext cx="3090672" cy="640080"/>
          </a:xfrm>
          <a:prstGeom prst="rect">
            <a:avLst/>
          </a:prstGeom>
          <a:noFill/>
          <a:ln/>
        </p:spPr>
        <p:txBody>
          <a:bodyPr wrap="square" lIns="0" tIns="0" rIns="0" bIns="0" rtlCol="0" anchor="ctr"/>
          <a:lstStyle/>
          <a:p>
            <a:pPr indent="0" marL="0">
              <a:lnSpc>
                <a:spcPct val="112000"/>
              </a:lnSpc>
              <a:buNone/>
            </a:pPr>
            <a:r>
              <a:rPr lang="en-US" sz="1080" dirty="0">
                <a:solidFill>
                  <a:srgbClr val="475569"/>
                </a:solidFill>
                <a:latin typeface="Calibri" pitchFamily="34" charset="0"/>
                <a:ea typeface="Calibri" pitchFamily="34" charset="-122"/>
                <a:cs typeface="Calibri" pitchFamily="34" charset="-120"/>
              </a:rPr>
              <a:t>Status flows through Applied, Reviewing, Shortlisted, Rejected, Hired</a:t>
            </a:r>
            <a:endParaRPr lang="en-US" sz="1080" dirty="0"/>
          </a:p>
        </p:txBody>
      </p:sp>
      <p:sp>
        <p:nvSpPr>
          <p:cNvPr id="29" name="Shape 22"/>
          <p:cNvSpPr/>
          <p:nvPr/>
        </p:nvSpPr>
        <p:spPr>
          <a:xfrm>
            <a:off x="7973568" y="3346704"/>
            <a:ext cx="3456432" cy="1627632"/>
          </a:xfrm>
          <a:prstGeom prst="roundRect">
            <a:avLst>
              <a:gd name="adj" fmla="val 4494"/>
            </a:avLst>
          </a:prstGeom>
          <a:solidFill>
            <a:srgbClr val="F1F5F9"/>
          </a:solidFill>
          <a:ln/>
          <a:effectLst>
            <a:outerShdw sx="100000" sy="100000" kx="0" ky="0" algn="bl" rotWithShape="0" blurRad="76200" dist="25400" dir="2700000">
              <a:srgbClr val="000000">
                <a:alpha val="7000"/>
              </a:srgbClr>
            </a:outerShdw>
          </a:effectLst>
        </p:spPr>
      </p:sp>
      <p:sp>
        <p:nvSpPr>
          <p:cNvPr id="30" name="Shape 23"/>
          <p:cNvSpPr/>
          <p:nvPr/>
        </p:nvSpPr>
        <p:spPr>
          <a:xfrm>
            <a:off x="8174736" y="3547872"/>
            <a:ext cx="502920" cy="502920"/>
          </a:xfrm>
          <a:prstGeom prst="ellipse">
            <a:avLst/>
          </a:prstGeom>
          <a:solidFill>
            <a:srgbClr val="FFFFFF"/>
          </a:solidFill>
          <a:ln/>
        </p:spPr>
      </p:sp>
      <p:pic>
        <p:nvPicPr>
          <p:cNvPr id="31" name="Image 5" descr="preencoded.png">    </p:cNvPr>
          <p:cNvPicPr>
            <a:picLocks noChangeAspect="1"/>
          </p:cNvPicPr>
          <p:nvPr/>
        </p:nvPicPr>
        <p:blipFill>
          <a:blip r:embed="rId6"/>
          <a:stretch>
            <a:fillRect/>
          </a:stretch>
        </p:blipFill>
        <p:spPr>
          <a:xfrm>
            <a:off x="8289036" y="3662172"/>
            <a:ext cx="274320" cy="274320"/>
          </a:xfrm>
          <a:prstGeom prst="rect">
            <a:avLst/>
          </a:prstGeom>
        </p:spPr>
      </p:pic>
      <p:sp>
        <p:nvSpPr>
          <p:cNvPr id="32" name="Text 24"/>
          <p:cNvSpPr/>
          <p:nvPr/>
        </p:nvSpPr>
        <p:spPr>
          <a:xfrm>
            <a:off x="8174736" y="4123944"/>
            <a:ext cx="3090672" cy="365760"/>
          </a:xfrm>
          <a:prstGeom prst="rect">
            <a:avLst/>
          </a:prstGeom>
          <a:noFill/>
          <a:ln/>
        </p:spPr>
        <p:txBody>
          <a:bodyPr wrap="square" lIns="0" tIns="0" rIns="0" bIns="0" rtlCol="0" anchor="ctr"/>
          <a:lstStyle/>
          <a:p>
            <a:pPr indent="0" marL="0">
              <a:buNone/>
            </a:pPr>
            <a:r>
              <a:rPr lang="en-US" sz="1400" b="1" dirty="0">
                <a:solidFill>
                  <a:srgbClr val="0F172A"/>
                </a:solidFill>
                <a:latin typeface="Cambria" pitchFamily="34" charset="0"/>
                <a:ea typeface="Cambria" pitchFamily="34" charset="-122"/>
                <a:cs typeface="Cambria" pitchFamily="34" charset="-120"/>
              </a:rPr>
              <a:t>Candidate Ranking</a:t>
            </a:r>
            <a:endParaRPr lang="en-US" sz="1400" dirty="0"/>
          </a:p>
        </p:txBody>
      </p:sp>
      <p:sp>
        <p:nvSpPr>
          <p:cNvPr id="33" name="Text 25"/>
          <p:cNvSpPr/>
          <p:nvPr/>
        </p:nvSpPr>
        <p:spPr>
          <a:xfrm>
            <a:off x="8174736" y="4489704"/>
            <a:ext cx="3090672" cy="640080"/>
          </a:xfrm>
          <a:prstGeom prst="rect">
            <a:avLst/>
          </a:prstGeom>
          <a:noFill/>
          <a:ln/>
        </p:spPr>
        <p:txBody>
          <a:bodyPr wrap="square" lIns="0" tIns="0" rIns="0" bIns="0" rtlCol="0" anchor="ctr"/>
          <a:lstStyle/>
          <a:p>
            <a:pPr indent="0" marL="0">
              <a:lnSpc>
                <a:spcPct val="112000"/>
              </a:lnSpc>
              <a:buNone/>
            </a:pPr>
            <a:r>
              <a:rPr lang="en-US" sz="1080" dirty="0">
                <a:solidFill>
                  <a:srgbClr val="475569"/>
                </a:solidFill>
                <a:latin typeface="Calibri" pitchFamily="34" charset="0"/>
                <a:ea typeface="Calibri" pitchFamily="34" charset="-122"/>
                <a:cs typeface="Calibri" pitchFamily="34" charset="-120"/>
              </a:rPr>
              <a:t>Applicants auto-sorted by ATS score to surface top-fit candidates first</a:t>
            </a:r>
            <a:endParaRPr lang="en-US" sz="1080" dirty="0"/>
          </a:p>
        </p:txBody>
      </p:sp>
      <p:sp>
        <p:nvSpPr>
          <p:cNvPr id="34" name="Shape 26"/>
          <p:cNvSpPr/>
          <p:nvPr/>
        </p:nvSpPr>
        <p:spPr>
          <a:xfrm>
            <a:off x="548640" y="5532120"/>
            <a:ext cx="10881360" cy="777240"/>
          </a:xfrm>
          <a:prstGeom prst="roundRect">
            <a:avLst>
              <a:gd name="adj" fmla="val 9412"/>
            </a:avLst>
          </a:prstGeom>
          <a:solidFill>
            <a:srgbClr val="11203A"/>
          </a:solidFill>
          <a:ln/>
        </p:spPr>
      </p:sp>
      <p:sp>
        <p:nvSpPr>
          <p:cNvPr id="35" name="Text 27"/>
          <p:cNvSpPr/>
          <p:nvPr/>
        </p:nvSpPr>
        <p:spPr>
          <a:xfrm>
            <a:off x="822960" y="5532120"/>
            <a:ext cx="10332720" cy="7772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Built with: React.js · Node.js · Express.js · MongoDB · JWT · Multer · Python (Flask, scikit-learn)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203A"/>
        </a:solidFill>
      </p:bgPr>
    </p:bg>
    <p:spTree>
      <p:nvGrpSpPr>
        <p:cNvPr id="1" name=""/>
        <p:cNvGrpSpPr/>
        <p:nvPr/>
      </p:nvGrpSpPr>
      <p:grpSpPr>
        <a:xfrm>
          <a:off x="0" y="0"/>
          <a:ext cx="0" cy="0"/>
          <a:chOff x="0" y="0"/>
          <a:chExt cx="0" cy="0"/>
        </a:xfrm>
      </p:grpSpPr>
      <p:sp>
        <p:nvSpPr>
          <p:cNvPr id="2" name="Shape 0"/>
          <p:cNvSpPr/>
          <p:nvPr/>
        </p:nvSpPr>
        <p:spPr>
          <a:xfrm>
            <a:off x="-2011680" y="4389120"/>
            <a:ext cx="5029200" cy="5029200"/>
          </a:xfrm>
          <a:prstGeom prst="ellipse">
            <a:avLst/>
          </a:prstGeom>
          <a:solidFill>
            <a:srgbClr val="1B2D4F"/>
          </a:solidFill>
          <a:ln/>
        </p:spPr>
      </p:sp>
      <p:sp>
        <p:nvSpPr>
          <p:cNvPr id="3" name="Text 1"/>
          <p:cNvSpPr/>
          <p:nvPr/>
        </p:nvSpPr>
        <p:spPr>
          <a:xfrm>
            <a:off x="640080" y="502920"/>
            <a:ext cx="914400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Conclusion &amp; Future Scope</a:t>
            </a:r>
            <a:endParaRPr lang="en-US" sz="3000" dirty="0"/>
          </a:p>
        </p:txBody>
      </p:sp>
      <p:pic>
        <p:nvPicPr>
          <p:cNvPr id="4" name="Image 0" descr="preencoded.png">    </p:cNvPr>
          <p:cNvPicPr>
            <a:picLocks noChangeAspect="1"/>
          </p:cNvPicPr>
          <p:nvPr/>
        </p:nvPicPr>
        <p:blipFill>
          <a:blip r:embed="rId1"/>
          <a:stretch>
            <a:fillRect/>
          </a:stretch>
        </p:blipFill>
        <p:spPr>
          <a:xfrm>
            <a:off x="640080" y="1325880"/>
            <a:ext cx="329184" cy="329184"/>
          </a:xfrm>
          <a:prstGeom prst="rect">
            <a:avLst/>
          </a:prstGeom>
        </p:spPr>
      </p:pic>
      <p:sp>
        <p:nvSpPr>
          <p:cNvPr id="5" name="Text 2"/>
          <p:cNvSpPr/>
          <p:nvPr/>
        </p:nvSpPr>
        <p:spPr>
          <a:xfrm>
            <a:off x="1078992" y="1325880"/>
            <a:ext cx="4572000"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Key Achievements</a:t>
            </a:r>
            <a:endParaRPr lang="en-US" sz="1600" dirty="0"/>
          </a:p>
        </p:txBody>
      </p:sp>
      <p:sp>
        <p:nvSpPr>
          <p:cNvPr id="6" name="Text 3"/>
          <p:cNvSpPr/>
          <p:nvPr/>
        </p:nvSpPr>
        <p:spPr>
          <a:xfrm>
            <a:off x="1078992" y="1783080"/>
            <a:ext cx="5074920" cy="2286000"/>
          </a:xfrm>
          <a:prstGeom prst="rect">
            <a:avLst/>
          </a:prstGeom>
          <a:noFill/>
          <a:ln/>
        </p:spPr>
        <p:txBody>
          <a:bodyPr wrap="square" lIns="0" tIns="0" rIns="0" bIns="0" rtlCol="0" anchor="ctr"/>
          <a:lstStyle/>
          <a:p>
            <a:pPr marL="342900" indent="-342900">
              <a:lnSpc>
                <a:spcPct val="115000"/>
              </a:lnSpc>
              <a:spcAft>
                <a:spcPts val="900"/>
              </a:spcAft>
              <a:buSzPct val="100000"/>
              <a:buChar char="•"/>
            </a:pPr>
            <a:r>
              <a:rPr lang="en-US" sz="1200" dirty="0">
                <a:solidFill>
                  <a:srgbClr val="C7D2E3"/>
                </a:solidFill>
                <a:latin typeface="Calibri" pitchFamily="34" charset="0"/>
                <a:ea typeface="Calibri" pitchFamily="34" charset="-122"/>
                <a:cs typeface="Calibri" pitchFamily="34" charset="-120"/>
              </a:rPr>
              <a:t>Fully functional full-stack ATS with secure, role-based authentication</a:t>
            </a:r>
            <a:endParaRPr lang="en-US" sz="1200" dirty="0"/>
          </a:p>
          <a:p>
            <a:pPr marL="342900" indent="-342900">
              <a:lnSpc>
                <a:spcPct val="115000"/>
              </a:lnSpc>
              <a:spcAft>
                <a:spcPts val="900"/>
              </a:spcAft>
              <a:buSzPct val="100000"/>
              <a:buChar char="•"/>
            </a:pPr>
            <a:r>
              <a:rPr lang="en-US" sz="1200" dirty="0">
                <a:solidFill>
                  <a:srgbClr val="C7D2E3"/>
                </a:solidFill>
                <a:latin typeface="Calibri" pitchFamily="34" charset="0"/>
                <a:ea typeface="Calibri" pitchFamily="34" charset="-122"/>
                <a:cs typeface="Calibri" pitchFamily="34" charset="-120"/>
              </a:rPr>
              <a:t>AI-driven resume scoring connecting a Node.js backend to a Python service</a:t>
            </a:r>
            <a:endParaRPr lang="en-US" sz="1200" dirty="0"/>
          </a:p>
          <a:p>
            <a:pPr marL="342900" indent="-342900">
              <a:lnSpc>
                <a:spcPct val="115000"/>
              </a:lnSpc>
              <a:spcAft>
                <a:spcPts val="900"/>
              </a:spcAft>
              <a:buSzPct val="100000"/>
              <a:buChar char="•"/>
            </a:pPr>
            <a:r>
              <a:rPr lang="en-US" sz="1200" dirty="0">
                <a:solidFill>
                  <a:srgbClr val="C7D2E3"/>
                </a:solidFill>
                <a:latin typeface="Calibri" pitchFamily="34" charset="0"/>
                <a:ea typeface="Calibri" pitchFamily="34" charset="-122"/>
                <a:cs typeface="Calibri" pitchFamily="34" charset="-120"/>
              </a:rPr>
              <a:t>Separate, working dashboards for recruiters and candidates</a:t>
            </a:r>
            <a:endParaRPr lang="en-US" sz="1200" dirty="0"/>
          </a:p>
          <a:p>
            <a:pPr marL="342900" indent="-342900">
              <a:lnSpc>
                <a:spcPct val="115000"/>
              </a:lnSpc>
              <a:spcAft>
                <a:spcPts val="900"/>
              </a:spcAft>
              <a:buSzPct val="100000"/>
              <a:buChar char="•"/>
            </a:pPr>
            <a:r>
              <a:rPr lang="en-US" sz="1200" dirty="0">
                <a:solidFill>
                  <a:srgbClr val="C7D2E3"/>
                </a:solidFill>
                <a:latin typeface="Calibri" pitchFamily="34" charset="0"/>
                <a:ea typeface="Calibri" pitchFamily="34" charset="-122"/>
                <a:cs typeface="Calibri" pitchFamily="34" charset="-120"/>
              </a:rPr>
              <a:t>End-to-end pipeline: job posting → application → AI scoring → status tracking</a:t>
            </a:r>
            <a:endParaRPr lang="en-US" sz="1200" dirty="0"/>
          </a:p>
        </p:txBody>
      </p:sp>
      <p:sp>
        <p:nvSpPr>
          <p:cNvPr id="7" name="Shape 4"/>
          <p:cNvSpPr/>
          <p:nvPr/>
        </p:nvSpPr>
        <p:spPr>
          <a:xfrm>
            <a:off x="6446520" y="1325880"/>
            <a:ext cx="5120640" cy="4160520"/>
          </a:xfrm>
          <a:prstGeom prst="roundRect">
            <a:avLst>
              <a:gd name="adj" fmla="val 1978"/>
            </a:avLst>
          </a:prstGeom>
          <a:solidFill>
            <a:srgbClr val="1B2D4F"/>
          </a:solidFill>
          <a:ln/>
          <a:effectLst>
            <a:outerShdw sx="100000" sy="100000" kx="0" ky="0" algn="bl" rotWithShape="0" blurRad="76200" dist="25400" dir="2700000">
              <a:srgbClr val="000000">
                <a:alpha val="15000"/>
              </a:srgbClr>
            </a:outerShdw>
          </a:effectLst>
        </p:spPr>
      </p:sp>
      <p:pic>
        <p:nvPicPr>
          <p:cNvPr id="8" name="Image 1" descr="preencoded.png">    </p:cNvPr>
          <p:cNvPicPr>
            <a:picLocks noChangeAspect="1"/>
          </p:cNvPicPr>
          <p:nvPr/>
        </p:nvPicPr>
        <p:blipFill>
          <a:blip r:embed="rId2"/>
          <a:stretch>
            <a:fillRect/>
          </a:stretch>
        </p:blipFill>
        <p:spPr>
          <a:xfrm>
            <a:off x="6766560" y="1600200"/>
            <a:ext cx="329184" cy="329184"/>
          </a:xfrm>
          <a:prstGeom prst="rect">
            <a:avLst/>
          </a:prstGeom>
        </p:spPr>
      </p:pic>
      <p:sp>
        <p:nvSpPr>
          <p:cNvPr id="9" name="Text 5"/>
          <p:cNvSpPr/>
          <p:nvPr/>
        </p:nvSpPr>
        <p:spPr>
          <a:xfrm>
            <a:off x="7205472" y="1600200"/>
            <a:ext cx="4114800"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Future Enhancements</a:t>
            </a:r>
            <a:endParaRPr lang="en-US" sz="1600" dirty="0"/>
          </a:p>
        </p:txBody>
      </p:sp>
      <p:pic>
        <p:nvPicPr>
          <p:cNvPr id="10" name="Image 2" descr="preencoded.png">    </p:cNvPr>
          <p:cNvPicPr>
            <a:picLocks noChangeAspect="1"/>
          </p:cNvPicPr>
          <p:nvPr/>
        </p:nvPicPr>
        <p:blipFill>
          <a:blip r:embed="rId3"/>
          <a:stretch>
            <a:fillRect/>
          </a:stretch>
        </p:blipFill>
        <p:spPr>
          <a:xfrm>
            <a:off x="6766560" y="2185416"/>
            <a:ext cx="201168" cy="201168"/>
          </a:xfrm>
          <a:prstGeom prst="rect">
            <a:avLst/>
          </a:prstGeom>
        </p:spPr>
      </p:pic>
      <p:sp>
        <p:nvSpPr>
          <p:cNvPr id="11" name="Text 6"/>
          <p:cNvSpPr/>
          <p:nvPr/>
        </p:nvSpPr>
        <p:spPr>
          <a:xfrm>
            <a:off x="7086600" y="2148840"/>
            <a:ext cx="4297680" cy="777240"/>
          </a:xfrm>
          <a:prstGeom prst="rect">
            <a:avLst/>
          </a:prstGeom>
          <a:noFill/>
          <a:ln/>
        </p:spPr>
        <p:txBody>
          <a:bodyPr wrap="square" lIns="0" tIns="0" rIns="0" bIns="0" rtlCol="0" anchor="t"/>
          <a:lstStyle/>
          <a:p>
            <a:pPr indent="0" marL="0">
              <a:lnSpc>
                <a:spcPct val="110000"/>
              </a:lnSpc>
              <a:buNone/>
            </a:pPr>
            <a:r>
              <a:rPr lang="en-US" sz="1200" b="1" dirty="0">
                <a:solidFill>
                  <a:srgbClr val="FFFFFF"/>
                </a:solidFill>
                <a:latin typeface="Calibri" pitchFamily="34" charset="0"/>
                <a:ea typeface="Calibri" pitchFamily="34" charset="-122"/>
                <a:cs typeface="Calibri" pitchFamily="34" charset="-120"/>
              </a:rPr>
              <a:t>Notifications System  </a:t>
            </a:r>
            <a:pPr indent="0" marL="0">
              <a:lnSpc>
                <a:spcPct val="110000"/>
              </a:lnSpc>
              <a:buNone/>
            </a:pPr>
            <a:r>
              <a:rPr lang="en-US" sz="1100" dirty="0">
                <a:solidFill>
                  <a:srgbClr val="AFC0DC"/>
                </a:solidFill>
                <a:latin typeface="Calibri" pitchFamily="34" charset="0"/>
                <a:ea typeface="Calibri" pitchFamily="34" charset="-122"/>
                <a:cs typeface="Calibri" pitchFamily="34" charset="-120"/>
              </a:rPr>
              <a:t>Real-time alerts for status changes and new applicants</a:t>
            </a:r>
            <a:endParaRPr lang="en-US" sz="1200" dirty="0"/>
          </a:p>
        </p:txBody>
      </p:sp>
      <p:pic>
        <p:nvPicPr>
          <p:cNvPr id="12" name="Image 3" descr="preencoded.png">    </p:cNvPr>
          <p:cNvPicPr>
            <a:picLocks noChangeAspect="1"/>
          </p:cNvPicPr>
          <p:nvPr/>
        </p:nvPicPr>
        <p:blipFill>
          <a:blip r:embed="rId4"/>
          <a:stretch>
            <a:fillRect/>
          </a:stretch>
        </p:blipFill>
        <p:spPr>
          <a:xfrm>
            <a:off x="6766560" y="3026664"/>
            <a:ext cx="201168" cy="201168"/>
          </a:xfrm>
          <a:prstGeom prst="rect">
            <a:avLst/>
          </a:prstGeom>
        </p:spPr>
      </p:pic>
      <p:sp>
        <p:nvSpPr>
          <p:cNvPr id="13" name="Text 7"/>
          <p:cNvSpPr/>
          <p:nvPr/>
        </p:nvSpPr>
        <p:spPr>
          <a:xfrm>
            <a:off x="7086600" y="2990088"/>
            <a:ext cx="4297680" cy="777240"/>
          </a:xfrm>
          <a:prstGeom prst="rect">
            <a:avLst/>
          </a:prstGeom>
          <a:noFill/>
          <a:ln/>
        </p:spPr>
        <p:txBody>
          <a:bodyPr wrap="square" lIns="0" tIns="0" rIns="0" bIns="0" rtlCol="0" anchor="t"/>
          <a:lstStyle/>
          <a:p>
            <a:pPr indent="0" marL="0">
              <a:lnSpc>
                <a:spcPct val="110000"/>
              </a:lnSpc>
              <a:buNone/>
            </a:pPr>
            <a:r>
              <a:rPr lang="en-US" sz="1200" b="1" dirty="0">
                <a:solidFill>
                  <a:srgbClr val="FFFFFF"/>
                </a:solidFill>
                <a:latin typeface="Calibri" pitchFamily="34" charset="0"/>
                <a:ea typeface="Calibri" pitchFamily="34" charset="-122"/>
                <a:cs typeface="Calibri" pitchFamily="34" charset="-120"/>
              </a:rPr>
              <a:t>In-App Resume Viewer  </a:t>
            </a:r>
            <a:pPr indent="0" marL="0">
              <a:lnSpc>
                <a:spcPct val="110000"/>
              </a:lnSpc>
              <a:buNone/>
            </a:pPr>
            <a:r>
              <a:rPr lang="en-US" sz="1100" dirty="0">
                <a:solidFill>
                  <a:srgbClr val="AFC0DC"/>
                </a:solidFill>
                <a:latin typeface="Calibri" pitchFamily="34" charset="0"/>
                <a:ea typeface="Calibri" pitchFamily="34" charset="-122"/>
                <a:cs typeface="Calibri" pitchFamily="34" charset="-120"/>
              </a:rPr>
              <a:t>View resumes directly without downloading the file</a:t>
            </a:r>
            <a:endParaRPr lang="en-US" sz="1200" dirty="0"/>
          </a:p>
        </p:txBody>
      </p:sp>
      <p:pic>
        <p:nvPicPr>
          <p:cNvPr id="14" name="Image 4" descr="preencoded.png">    </p:cNvPr>
          <p:cNvPicPr>
            <a:picLocks noChangeAspect="1"/>
          </p:cNvPicPr>
          <p:nvPr/>
        </p:nvPicPr>
        <p:blipFill>
          <a:blip r:embed="rId5"/>
          <a:stretch>
            <a:fillRect/>
          </a:stretch>
        </p:blipFill>
        <p:spPr>
          <a:xfrm>
            <a:off x="6766560" y="3867912"/>
            <a:ext cx="201168" cy="201168"/>
          </a:xfrm>
          <a:prstGeom prst="rect">
            <a:avLst/>
          </a:prstGeom>
        </p:spPr>
      </p:pic>
      <p:sp>
        <p:nvSpPr>
          <p:cNvPr id="15" name="Text 8"/>
          <p:cNvSpPr/>
          <p:nvPr/>
        </p:nvSpPr>
        <p:spPr>
          <a:xfrm>
            <a:off x="7086600" y="3831336"/>
            <a:ext cx="4297680" cy="777240"/>
          </a:xfrm>
          <a:prstGeom prst="rect">
            <a:avLst/>
          </a:prstGeom>
          <a:noFill/>
          <a:ln/>
        </p:spPr>
        <p:txBody>
          <a:bodyPr wrap="square" lIns="0" tIns="0" rIns="0" bIns="0" rtlCol="0" anchor="t"/>
          <a:lstStyle/>
          <a:p>
            <a:pPr indent="0" marL="0">
              <a:lnSpc>
                <a:spcPct val="110000"/>
              </a:lnSpc>
              <a:buNone/>
            </a:pPr>
            <a:r>
              <a:rPr lang="en-US" sz="1200" b="1" dirty="0">
                <a:solidFill>
                  <a:srgbClr val="FFFFFF"/>
                </a:solidFill>
                <a:latin typeface="Calibri" pitchFamily="34" charset="0"/>
                <a:ea typeface="Calibri" pitchFamily="34" charset="-122"/>
                <a:cs typeface="Calibri" pitchFamily="34" charset="-120"/>
              </a:rPr>
              <a:t>Interview Scheduling  </a:t>
            </a:r>
            <a:pPr indent="0" marL="0">
              <a:lnSpc>
                <a:spcPct val="110000"/>
              </a:lnSpc>
              <a:buNone/>
            </a:pPr>
            <a:r>
              <a:rPr lang="en-US" sz="1100" dirty="0">
                <a:solidFill>
                  <a:srgbClr val="AFC0DC"/>
                </a:solidFill>
                <a:latin typeface="Calibri" pitchFamily="34" charset="0"/>
                <a:ea typeface="Calibri" pitchFamily="34" charset="-122"/>
                <a:cs typeface="Calibri" pitchFamily="34" charset="-120"/>
              </a:rPr>
              <a:t>Calendar-based interview booking between recruiter and candidate</a:t>
            </a:r>
            <a:endParaRPr lang="en-US" sz="1200" dirty="0"/>
          </a:p>
        </p:txBody>
      </p:sp>
      <p:pic>
        <p:nvPicPr>
          <p:cNvPr id="16" name="Image 5" descr="preencoded.png">    </p:cNvPr>
          <p:cNvPicPr>
            <a:picLocks noChangeAspect="1"/>
          </p:cNvPicPr>
          <p:nvPr/>
        </p:nvPicPr>
        <p:blipFill>
          <a:blip r:embed="rId6"/>
          <a:stretch>
            <a:fillRect/>
          </a:stretch>
        </p:blipFill>
        <p:spPr>
          <a:xfrm>
            <a:off x="6766560" y="4709160"/>
            <a:ext cx="201168" cy="201168"/>
          </a:xfrm>
          <a:prstGeom prst="rect">
            <a:avLst/>
          </a:prstGeom>
        </p:spPr>
      </p:pic>
      <p:sp>
        <p:nvSpPr>
          <p:cNvPr id="17" name="Text 9"/>
          <p:cNvSpPr/>
          <p:nvPr/>
        </p:nvSpPr>
        <p:spPr>
          <a:xfrm>
            <a:off x="7086600" y="4672584"/>
            <a:ext cx="4297680" cy="777240"/>
          </a:xfrm>
          <a:prstGeom prst="rect">
            <a:avLst/>
          </a:prstGeom>
          <a:noFill/>
          <a:ln/>
        </p:spPr>
        <p:txBody>
          <a:bodyPr wrap="square" lIns="0" tIns="0" rIns="0" bIns="0" rtlCol="0" anchor="t"/>
          <a:lstStyle/>
          <a:p>
            <a:pPr indent="0" marL="0">
              <a:lnSpc>
                <a:spcPct val="110000"/>
              </a:lnSpc>
              <a:buNone/>
            </a:pPr>
            <a:r>
              <a:rPr lang="en-US" sz="1200" b="1" dirty="0">
                <a:solidFill>
                  <a:srgbClr val="FFFFFF"/>
                </a:solidFill>
                <a:latin typeface="Calibri" pitchFamily="34" charset="0"/>
                <a:ea typeface="Calibri" pitchFamily="34" charset="-122"/>
                <a:cs typeface="Calibri" pitchFamily="34" charset="-120"/>
              </a:rPr>
              <a:t>Deeper Analytics  </a:t>
            </a:r>
            <a:pPr indent="0" marL="0">
              <a:lnSpc>
                <a:spcPct val="110000"/>
              </a:lnSpc>
              <a:buNone/>
            </a:pPr>
            <a:r>
              <a:rPr lang="en-US" sz="1100" dirty="0">
                <a:solidFill>
                  <a:srgbClr val="AFC0DC"/>
                </a:solidFill>
                <a:latin typeface="Calibri" pitchFamily="34" charset="0"/>
                <a:ea typeface="Calibri" pitchFamily="34" charset="-122"/>
                <a:cs typeface="Calibri" pitchFamily="34" charset="-120"/>
              </a:rPr>
              <a:t>Hiring funnel charts and time-to-hire metrics for recruiters</a:t>
            </a:r>
            <a:endParaRPr lang="en-US" sz="1200" dirty="0"/>
          </a:p>
        </p:txBody>
      </p:sp>
      <p:sp>
        <p:nvSpPr>
          <p:cNvPr id="18" name="Text 10"/>
          <p:cNvSpPr/>
          <p:nvPr/>
        </p:nvSpPr>
        <p:spPr>
          <a:xfrm>
            <a:off x="640080" y="5989320"/>
            <a:ext cx="5486400" cy="548640"/>
          </a:xfrm>
          <a:prstGeom prst="rect">
            <a:avLst/>
          </a:prstGeom>
          <a:noFill/>
          <a:ln/>
        </p:spPr>
        <p:txBody>
          <a:bodyPr wrap="square" lIns="0" tIns="0" rIns="0" bIns="0" rtlCol="0" anchor="ctr"/>
          <a:lstStyle/>
          <a:p>
            <a:pPr indent="0" marL="0">
              <a:buNone/>
            </a:pPr>
            <a:r>
              <a:rPr lang="en-US" sz="2200" b="1" dirty="0">
                <a:solidFill>
                  <a:srgbClr val="5EEAD4"/>
                </a:solidFill>
                <a:latin typeface="Cambria" pitchFamily="34" charset="0"/>
                <a:ea typeface="Cambria" pitchFamily="34" charset="-122"/>
                <a:cs typeface="Cambria" pitchFamily="34" charset="-120"/>
              </a:rPr>
              <a:t>Thank You</a:t>
            </a:r>
            <a:endParaRPr lang="en-US" sz="2200" dirty="0"/>
          </a:p>
        </p:txBody>
      </p:sp>
      <p:sp>
        <p:nvSpPr>
          <p:cNvPr id="19" name="Text 11"/>
          <p:cNvSpPr/>
          <p:nvPr/>
        </p:nvSpPr>
        <p:spPr>
          <a:xfrm>
            <a:off x="640080" y="6446520"/>
            <a:ext cx="5486400" cy="320040"/>
          </a:xfrm>
          <a:prstGeom prst="rect">
            <a:avLst/>
          </a:prstGeom>
          <a:noFill/>
          <a:ln/>
        </p:spPr>
        <p:txBody>
          <a:bodyPr wrap="square" lIns="0" tIns="0" rIns="0" bIns="0" rtlCol="0" anchor="ctr"/>
          <a:lstStyle/>
          <a:p>
            <a:pPr indent="0" marL="0">
              <a:buNone/>
            </a:pPr>
            <a:r>
              <a:rPr lang="en-US" sz="1150" i="1" dirty="0">
                <a:solidFill>
                  <a:srgbClr val="94A3B8"/>
                </a:solidFill>
                <a:latin typeface="Calibri" pitchFamily="34" charset="0"/>
                <a:ea typeface="Calibri" pitchFamily="34" charset="-122"/>
                <a:cs typeface="Calibri" pitchFamily="34" charset="-120"/>
              </a:rPr>
              <a:t>Questions are welcome</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AI-Powered Applicant Tracking System</dc:title>
  <dc:subject>PptxGenJS Presentation</dc:subject>
  <dc:creator>Yudeshna Nalla</dc:creator>
  <cp:lastModifiedBy>Yudeshna Nalla</cp:lastModifiedBy>
  <cp:revision>1</cp:revision>
  <dcterms:created xsi:type="dcterms:W3CDTF">2026-06-22T08:00:48Z</dcterms:created>
  <dcterms:modified xsi:type="dcterms:W3CDTF">2026-06-22T08:00:48Z</dcterms:modified>
</cp:coreProperties>
</file>